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334" r:id="rId3"/>
    <p:sldId id="349" r:id="rId4"/>
    <p:sldId id="353" r:id="rId5"/>
    <p:sldId id="257" r:id="rId6"/>
    <p:sldId id="268" r:id="rId7"/>
    <p:sldId id="354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6" r:id="rId26"/>
    <p:sldId id="381" r:id="rId27"/>
    <p:sldId id="377" r:id="rId28"/>
    <p:sldId id="373" r:id="rId29"/>
    <p:sldId id="382" r:id="rId30"/>
    <p:sldId id="374" r:id="rId31"/>
    <p:sldId id="378" r:id="rId32"/>
    <p:sldId id="383" r:id="rId33"/>
    <p:sldId id="375" r:id="rId34"/>
    <p:sldId id="379" r:id="rId35"/>
    <p:sldId id="380" r:id="rId36"/>
    <p:sldId id="384" r:id="rId37"/>
    <p:sldId id="385" r:id="rId38"/>
    <p:sldId id="386" r:id="rId39"/>
    <p:sldId id="387" r:id="rId40"/>
    <p:sldId id="346" r:id="rId41"/>
    <p:sldId id="389" r:id="rId42"/>
    <p:sldId id="388" r:id="rId43"/>
    <p:sldId id="390" r:id="rId44"/>
    <p:sldId id="391" r:id="rId45"/>
    <p:sldId id="392" r:id="rId46"/>
    <p:sldId id="393" r:id="rId47"/>
    <p:sldId id="394" r:id="rId48"/>
    <p:sldId id="395" r:id="rId49"/>
    <p:sldId id="396" r:id="rId50"/>
    <p:sldId id="397" r:id="rId51"/>
    <p:sldId id="398" r:id="rId52"/>
    <p:sldId id="271" r:id="rId5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A6FC"/>
    <a:srgbClr val="FF65A3"/>
    <a:srgbClr val="890101"/>
    <a:srgbClr val="FE4444"/>
    <a:srgbClr val="BB0101"/>
    <a:srgbClr val="8A0038"/>
    <a:srgbClr val="FFEFF5"/>
    <a:srgbClr val="616161"/>
    <a:srgbClr val="D00054"/>
    <a:srgbClr val="E20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>
        <p:scale>
          <a:sx n="50" d="100"/>
          <a:sy n="50" d="100"/>
        </p:scale>
        <p:origin x="2222" y="5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CA1A7-A268-4063-BFEE-FB36DF9E57BD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21689-E081-4CE8-A7AD-1E7E6D38CB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79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21689-E081-4CE8-A7AD-1E7E6D38CB9A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7953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3E10C-51BF-A8F7-6C4C-75369909F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8575C6-6243-F2E5-5531-47F89F7FC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371842-BA11-0B97-4683-76CD64E9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4EBC49-F5CB-F06D-2A4C-944EC4BA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7EECDB-0F42-FCD1-908F-4107A542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168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AF412-3836-A692-19C1-5C1179B0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FE1AB8-E2BA-F83B-BF1B-C3F0E96FA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1A6ADC-5436-5947-B417-CFCF118F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1363ED-4A38-5154-8755-D40C0B35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364B6F-9119-DBFE-F49C-CAF25F7D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5117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EDA44-F434-7E79-AA63-DBAB38A8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2972CA-549A-41DC-9C72-B752E7AF2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F38C3D-8E56-37D9-899C-FFBFDFA1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C3E7D0-F89B-02A2-9379-390C0C1A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2C8081-5E48-E55B-9CB2-78185954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536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1EDA8-B1A2-DC5B-6A17-4CA0BFEB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7428DC-574B-5152-A366-3660F5810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D4C4E1-F3A1-533F-0F6C-C296B3D02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49906A-AE1E-5BCF-3E38-30603762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58E369-2026-DF7D-899A-8BCF5C89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7A9355-88D0-1F52-4FB2-DF9968D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288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20B34-2633-EC7A-E284-F145BF3F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0ACAFD-02F3-D518-B3A8-B52980B9D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B624EE-069A-2A0B-B2E2-7C5D662D5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914AF1-5AB7-B928-1993-608CF734E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B50902-1A79-970A-A827-B60579FBB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E75218-48C9-625B-C9C9-BC6BB220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3FFFB5-9DAB-C613-3FDA-1D519A71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D852E8-CD46-BF07-5182-6AD4A8AAA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494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C314D-7542-92F4-9D7D-553373F5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0A5A00-D5DD-D1A0-D7B4-9D142672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02110C-D84B-1F4B-BFD0-3D720654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CA3D15-513B-20DF-DED8-C54BE6E5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4763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0FCD1A-C824-A259-EA2E-35B415D5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CC30FE9-BEFB-3EA3-82FA-23E4A5E8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A24C57-43E7-5373-8256-72BB9A28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073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11818-E8D6-F912-E75B-486E3D96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A760C-01F7-F411-C958-D1143FD3F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FBDC35-FCF3-22F1-B661-2DD60CF52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DAC759-E63E-E32A-D733-ADC07C7D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F1E6F1-7DD3-A97B-FDCB-A2709CB4F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9933BD-1966-53EF-0EE8-F7228F69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1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EF6FA-CCAF-6F67-5A05-43590D00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1F56AB3-CD23-5AF9-4800-6659D6B0F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448919-7E00-A0D1-E10F-AE0836C24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B9AE28-9C90-E1E4-249E-153DC9DB9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443644-C00B-FB06-67D6-02922427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1D0604-E610-B798-F2D0-8984ACBA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496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D681A-3345-3341-99C1-4F201FA8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26267F-F0E1-C927-EA76-2CB4C06DA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99EF58-1DC4-8750-466D-CD142E78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C80E0-D4C5-E723-6E12-1F32A809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165774-B5A8-F8FC-87BF-B1253B5B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741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515AB7-9956-576E-683A-B18555268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7A170A-B2E0-2D70-95C6-A206F75F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9C7557-D168-DAA4-C156-769F2E68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B1FA9E-06E6-7085-75FC-23894AC0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6F9709-A682-60BC-96F6-B060475E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26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968970D-C082-F880-D0D2-7385B9CA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96A2F1-4BD6-2CD8-5902-3D9C5C6EC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956725-ABA0-A75F-397B-06ACA9A5D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D114F-03AB-4CCB-B446-8DE728E7E841}" type="datetimeFigureOut">
              <a:rPr lang="es-MX" smtClean="0"/>
              <a:t>14/07/2026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F01653-F69F-B1EF-6CDF-9C2A99AA4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BEBCE0-7C98-1F7E-AE27-7BAB9A38C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5DD07-B74D-4FE9-9CAA-487F8F38C3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887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.jpe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jpeg"/><Relationship Id="rId7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jpe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jpeg"/><Relationship Id="rId7" Type="http://schemas.openxmlformats.org/officeDocument/2006/relationships/image" Target="../media/image63.png"/><Relationship Id="rId12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66.png"/><Relationship Id="rId5" Type="http://schemas.openxmlformats.org/officeDocument/2006/relationships/image" Target="../media/image62.jpeg"/><Relationship Id="rId10" Type="http://schemas.openxmlformats.org/officeDocument/2006/relationships/image" Target="../media/image65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2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EHU - YouTube">
            <a:extLst>
              <a:ext uri="{FF2B5EF4-FFF2-40B4-BE49-F238E27FC236}">
                <a16:creationId xmlns:a16="http://schemas.microsoft.com/office/drawing/2014/main" id="{1B86C533-EB47-8BA0-3F12-F8FFCE0598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301506" y="160944"/>
            <a:ext cx="1086434" cy="1080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5FDBEA3-4067-F8F8-4D92-B35B6CF6F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642" y="1626082"/>
            <a:ext cx="10840721" cy="233483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es-MX" sz="4400" b="1" dirty="0">
                <a:latin typeface="Amasis MT Pro Medium" panose="02040604050005020304" pitchFamily="18" charset="0"/>
              </a:rPr>
              <a:t>Cuánticos para Clasificación de Imágenes</a:t>
            </a:r>
            <a:r>
              <a:rPr lang="es-ES" sz="4400" b="1" dirty="0">
                <a:latin typeface="Amasis MT Pro Medium" panose="020406040500050203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br>
              <a:rPr lang="es-ES" sz="40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</a:br>
            <a:r>
              <a:rPr lang="es-ES" sz="18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br>
              <a:rPr lang="es-ES" sz="4000" b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</a:br>
            <a:r>
              <a:rPr lang="es-ES" sz="3200" i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Estancia Sebastián BCAM // Junio - Julio</a:t>
            </a:r>
            <a:endParaRPr lang="es-MX" sz="4000" i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2096DF-B89B-EEF7-AA9E-F17C4D638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889" y="4400050"/>
            <a:ext cx="5044443" cy="2081773"/>
          </a:xfrm>
        </p:spPr>
        <p:txBody>
          <a:bodyPr>
            <a:normAutofit/>
          </a:bodyPr>
          <a:lstStyle/>
          <a:p>
            <a:pPr algn="l"/>
            <a:r>
              <a:rPr lang="es-MX" b="1" dirty="0">
                <a:latin typeface="Cambria Math" panose="02040503050406030204" pitchFamily="18" charset="0"/>
                <a:ea typeface="Cambria Math" panose="02040503050406030204" pitchFamily="18" charset="0"/>
              </a:rPr>
              <a:t>Sebastián González Juárez</a:t>
            </a:r>
          </a:p>
          <a:p>
            <a:pPr algn="l"/>
            <a:r>
              <a:rPr lang="es-MX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Asesores: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Camila Roxana Cristiano Romero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Dr. Mikel Sanz Ruiz</a:t>
            </a:r>
          </a:p>
          <a:p>
            <a:pPr algn="l"/>
            <a:endParaRPr lang="es-E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/>
            <a:r>
              <a:rPr lang="es-E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Leioa (Bizkaia), 17 de febrero de 2026</a:t>
            </a:r>
            <a:endParaRPr lang="es-MX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BE4816D-5421-30C7-D6D8-728400E566C3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Imagen 14" descr="Bilbao-Barcelona Analysis and PDEs meeting">
            <a:extLst>
              <a:ext uri="{FF2B5EF4-FFF2-40B4-BE49-F238E27FC236}">
                <a16:creationId xmlns:a16="http://schemas.microsoft.com/office/drawing/2014/main" id="{F5A038BF-C6B6-DC8E-761F-93E4A5ED8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494" y="160944"/>
            <a:ext cx="2160000" cy="1080000"/>
          </a:xfrm>
          <a:prstGeom prst="rect">
            <a:avLst/>
          </a:prstGeom>
        </p:spPr>
      </p:pic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63688BE2-1632-9BA4-4AC6-0FE4AB4AB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700553"/>
              </p:ext>
            </p:extLst>
          </p:nvPr>
        </p:nvGraphicFramePr>
        <p:xfrm>
          <a:off x="0" y="177120"/>
          <a:ext cx="10922000" cy="108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37235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167765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7606241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691727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719032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531496">
                <a:tc>
                  <a:txBody>
                    <a:bodyPr/>
                    <a:lstStyle/>
                    <a:p>
                      <a:r>
                        <a:rPr lang="es-MX" sz="100" dirty="0"/>
                        <a:t>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548504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78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54677-20AA-A9F1-B4A3-B88AB042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: biselado 20">
            <a:extLst>
              <a:ext uri="{FF2B5EF4-FFF2-40B4-BE49-F238E27FC236}">
                <a16:creationId xmlns:a16="http://schemas.microsoft.com/office/drawing/2014/main" id="{36F18FA6-405E-B2E4-6598-51ED8B45D1BB}"/>
              </a:ext>
            </a:extLst>
          </p:cNvPr>
          <p:cNvSpPr>
            <a:spLocks noChangeAspect="1"/>
          </p:cNvSpPr>
          <p:nvPr/>
        </p:nvSpPr>
        <p:spPr>
          <a:xfrm rot="19203730">
            <a:off x="1778914" y="6233043"/>
            <a:ext cx="727395" cy="727395"/>
          </a:xfrm>
          <a:prstGeom prst="bevel">
            <a:avLst>
              <a:gd name="adj" fmla="val 1765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: biselado 22">
            <a:extLst>
              <a:ext uri="{FF2B5EF4-FFF2-40B4-BE49-F238E27FC236}">
                <a16:creationId xmlns:a16="http://schemas.microsoft.com/office/drawing/2014/main" id="{60EF7157-3B10-6497-B17C-43A36442D714}"/>
              </a:ext>
            </a:extLst>
          </p:cNvPr>
          <p:cNvSpPr>
            <a:spLocks noChangeAspect="1"/>
          </p:cNvSpPr>
          <p:nvPr/>
        </p:nvSpPr>
        <p:spPr>
          <a:xfrm rot="20522095">
            <a:off x="6627056" y="5302028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: biselado 24">
            <a:extLst>
              <a:ext uri="{FF2B5EF4-FFF2-40B4-BE49-F238E27FC236}">
                <a16:creationId xmlns:a16="http://schemas.microsoft.com/office/drawing/2014/main" id="{B2C5A5B6-AD2C-99FA-02E5-70B480D1969E}"/>
              </a:ext>
            </a:extLst>
          </p:cNvPr>
          <p:cNvSpPr>
            <a:spLocks noChangeAspect="1"/>
          </p:cNvSpPr>
          <p:nvPr/>
        </p:nvSpPr>
        <p:spPr>
          <a:xfrm rot="21354980">
            <a:off x="5053660" y="994899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ángulo: biselado 26">
            <a:extLst>
              <a:ext uri="{FF2B5EF4-FFF2-40B4-BE49-F238E27FC236}">
                <a16:creationId xmlns:a16="http://schemas.microsoft.com/office/drawing/2014/main" id="{6F03B7F7-36EC-5005-39D4-77935B95B6FE}"/>
              </a:ext>
            </a:extLst>
          </p:cNvPr>
          <p:cNvSpPr>
            <a:spLocks noChangeAspect="1"/>
          </p:cNvSpPr>
          <p:nvPr/>
        </p:nvSpPr>
        <p:spPr>
          <a:xfrm rot="1551404">
            <a:off x="9850204" y="1051184"/>
            <a:ext cx="582368" cy="582368"/>
          </a:xfrm>
          <a:prstGeom prst="bevel">
            <a:avLst>
              <a:gd name="adj" fmla="val 1765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: biselado 28">
            <a:extLst>
              <a:ext uri="{FF2B5EF4-FFF2-40B4-BE49-F238E27FC236}">
                <a16:creationId xmlns:a16="http://schemas.microsoft.com/office/drawing/2014/main" id="{351F759A-46D7-3414-FCC3-F72BEACBD044}"/>
              </a:ext>
            </a:extLst>
          </p:cNvPr>
          <p:cNvSpPr>
            <a:spLocks noChangeAspect="1"/>
          </p:cNvSpPr>
          <p:nvPr/>
        </p:nvSpPr>
        <p:spPr>
          <a:xfrm rot="21245635">
            <a:off x="11210819" y="5911825"/>
            <a:ext cx="892282" cy="892282"/>
          </a:xfrm>
          <a:prstGeom prst="bevel">
            <a:avLst>
              <a:gd name="adj" fmla="val 1765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: biselado 30">
            <a:extLst>
              <a:ext uri="{FF2B5EF4-FFF2-40B4-BE49-F238E27FC236}">
                <a16:creationId xmlns:a16="http://schemas.microsoft.com/office/drawing/2014/main" id="{B6056631-1144-A1AA-187B-3176858DEB2E}"/>
              </a:ext>
            </a:extLst>
          </p:cNvPr>
          <p:cNvSpPr>
            <a:spLocks noChangeAspect="1"/>
          </p:cNvSpPr>
          <p:nvPr/>
        </p:nvSpPr>
        <p:spPr>
          <a:xfrm rot="20341349">
            <a:off x="11469540" y="1285252"/>
            <a:ext cx="892282" cy="892282"/>
          </a:xfrm>
          <a:prstGeom prst="bevel">
            <a:avLst>
              <a:gd name="adj" fmla="val 1765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: biselado 18">
            <a:extLst>
              <a:ext uri="{FF2B5EF4-FFF2-40B4-BE49-F238E27FC236}">
                <a16:creationId xmlns:a16="http://schemas.microsoft.com/office/drawing/2014/main" id="{C9412CD8-E0C7-118B-DE28-D32F72477614}"/>
              </a:ext>
            </a:extLst>
          </p:cNvPr>
          <p:cNvSpPr/>
          <p:nvPr/>
        </p:nvSpPr>
        <p:spPr>
          <a:xfrm rot="1247275">
            <a:off x="238008" y="1316311"/>
            <a:ext cx="1042416" cy="1042416"/>
          </a:xfrm>
          <a:prstGeom prst="bevel">
            <a:avLst>
              <a:gd name="adj" fmla="val 1765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59665A-D523-C15F-79E2-0BC068ACF792}"/>
              </a:ext>
            </a:extLst>
          </p:cNvPr>
          <p:cNvSpPr/>
          <p:nvPr/>
        </p:nvSpPr>
        <p:spPr>
          <a:xfrm>
            <a:off x="0" y="0"/>
            <a:ext cx="12192000" cy="747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117740-279E-B300-19F0-B2BBD5542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1" y="1999840"/>
            <a:ext cx="6731000" cy="3762320"/>
          </a:xfr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Contenido:</a:t>
            </a:r>
          </a:p>
          <a:p>
            <a:r>
              <a:rPr lang="es-MX" b="1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1.</a:t>
            </a:r>
          </a:p>
          <a:p>
            <a:pPr marL="0" indent="0" algn="ctr">
              <a:buNone/>
            </a:pPr>
            <a:r>
              <a:rPr lang="es-E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Análisis del espacio Latente del Bottleneck de la UNET y de </a:t>
            </a:r>
            <a:r>
              <a:rPr lang="es-ES" sz="20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CNNs</a:t>
            </a:r>
            <a:endParaRPr lang="es-MX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2.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3.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4.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Futuras pruebas.</a:t>
            </a:r>
          </a:p>
          <a:p>
            <a:endParaRPr lang="es-MX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4D131E1-7FF4-38CD-71EF-AAA3D74C4EC8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Contenido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B938293D-051F-D8BC-EDD0-DE795E99E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0" name="Imagen 9" descr="EHU - YouTube">
            <a:extLst>
              <a:ext uri="{FF2B5EF4-FFF2-40B4-BE49-F238E27FC236}">
                <a16:creationId xmlns:a16="http://schemas.microsoft.com/office/drawing/2014/main" id="{2A17FFEE-4653-66DD-9E1C-17DFF1C4A1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7528D45-C19F-1FA9-D459-DCBDB9329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158" y="1837520"/>
            <a:ext cx="3955123" cy="39246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114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E563-7E26-4B62-CDB0-AF662B2B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50F3A9E-FEA9-ADBC-EB52-28B5ED069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31903"/>
              </p:ext>
            </p:extLst>
          </p:nvPr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66AECB7B-0733-E502-A093-40332A4FE295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33EF404A-9A21-6A04-7277-4A5AB7BF7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DBCC43DF-2F09-E4C6-23AC-D993B22F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EF7710EA-3303-C536-D4A2-888D1A07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08" y="558000"/>
            <a:ext cx="10782783" cy="970688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s-MX" sz="3200" b="1" dirty="0"/>
              <a:t>Análisis del espacio Latente del Bottleneck de la UNET y de </a:t>
            </a:r>
            <a:r>
              <a:rPr lang="es-MX" sz="3200" b="1" dirty="0" err="1"/>
              <a:t>CNNs</a:t>
            </a:r>
            <a:endParaRPr lang="es-MX" sz="3200" b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77004E-883C-A33A-60D8-3E303C5D9F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71" y="1186691"/>
            <a:ext cx="7783658" cy="28800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7729B00-7ACF-A0A8-B766-94DAAF0EDF09}"/>
              </a:ext>
            </a:extLst>
          </p:cNvPr>
          <p:cNvSpPr txBox="1"/>
          <p:nvPr/>
        </p:nvSpPr>
        <p:spPr>
          <a:xfrm>
            <a:off x="838200" y="3985411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dirty="0"/>
              <a:t>P. </a:t>
            </a:r>
            <a:r>
              <a:rPr lang="es-MX" sz="1100" dirty="0" err="1"/>
              <a:t>Rodriguez</a:t>
            </a:r>
            <a:r>
              <a:rPr lang="es-MX" sz="1100" dirty="0"/>
              <a:t>-Grasa, R. Farzan-</a:t>
            </a:r>
            <a:r>
              <a:rPr lang="es-MX" sz="1100" dirty="0" err="1"/>
              <a:t>Rodriguez</a:t>
            </a:r>
            <a:r>
              <a:rPr lang="es-MX" sz="1100" dirty="0"/>
              <a:t>, G. Novelli, Y. Ban, and M. Sanz, "</a:t>
            </a:r>
            <a:r>
              <a:rPr lang="es-MX" sz="1100" dirty="0" err="1"/>
              <a:t>Satellite</a:t>
            </a:r>
            <a:r>
              <a:rPr lang="es-MX" sz="1100" dirty="0"/>
              <a:t> </a:t>
            </a:r>
            <a:r>
              <a:rPr lang="es-MX" sz="1100" dirty="0" err="1"/>
              <a:t>image</a:t>
            </a:r>
            <a:r>
              <a:rPr lang="es-MX" sz="1100" dirty="0"/>
              <a:t> </a:t>
            </a:r>
            <a:r>
              <a:rPr lang="es-MX" sz="1100" dirty="0" err="1"/>
              <a:t>classification</a:t>
            </a:r>
            <a:r>
              <a:rPr lang="es-MX" sz="1100" dirty="0"/>
              <a:t> </a:t>
            </a:r>
            <a:r>
              <a:rPr lang="es-MX" sz="1100" dirty="0" err="1"/>
              <a:t>with</a:t>
            </a:r>
            <a:r>
              <a:rPr lang="es-MX" sz="1100" dirty="0"/>
              <a:t> neural quantum kernels," </a:t>
            </a:r>
            <a:r>
              <a:rPr lang="es-MX" sz="1100" i="1" dirty="0"/>
              <a:t>Machine Learning: </a:t>
            </a:r>
            <a:r>
              <a:rPr lang="es-MX" sz="1100" i="1" dirty="0" err="1"/>
              <a:t>Science</a:t>
            </a:r>
            <a:r>
              <a:rPr lang="es-MX" sz="1100" i="1" dirty="0"/>
              <a:t> and </a:t>
            </a:r>
            <a:r>
              <a:rPr lang="es-MX" sz="1100" i="1" dirty="0" err="1"/>
              <a:t>Technology</a:t>
            </a:r>
            <a:r>
              <a:rPr lang="es-MX" sz="1100" dirty="0"/>
              <a:t>, vol. 6, no. 1, Art. no. 015043, Feb. 2025, </a:t>
            </a:r>
            <a:r>
              <a:rPr lang="es-MX" sz="1100" dirty="0" err="1"/>
              <a:t>doi</a:t>
            </a:r>
            <a:r>
              <a:rPr lang="es-MX" sz="1100" dirty="0"/>
              <a:t>: 10.1088/2632-2153/ada86c.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1C6251D-9BBF-ADE6-DFA5-594599F36AA0}"/>
              </a:ext>
            </a:extLst>
          </p:cNvPr>
          <p:cNvSpPr/>
          <p:nvPr/>
        </p:nvSpPr>
        <p:spPr>
          <a:xfrm>
            <a:off x="449098" y="4457302"/>
            <a:ext cx="5230341" cy="177213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8AA1FF4-3FB5-7B06-1353-8FD851706D61}"/>
              </a:ext>
            </a:extLst>
          </p:cNvPr>
          <p:cNvSpPr/>
          <p:nvPr/>
        </p:nvSpPr>
        <p:spPr>
          <a:xfrm>
            <a:off x="6512561" y="4447142"/>
            <a:ext cx="5230341" cy="177213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5B7556E-7C80-561A-8181-5690FFA86D1E}"/>
              </a:ext>
            </a:extLst>
          </p:cNvPr>
          <p:cNvSpPr/>
          <p:nvPr/>
        </p:nvSpPr>
        <p:spPr>
          <a:xfrm>
            <a:off x="571017" y="4837350"/>
            <a:ext cx="4986502" cy="12688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EFC2948D-79F5-E902-E2C7-D253EEB32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757437"/>
              </p:ext>
            </p:extLst>
          </p:nvPr>
        </p:nvGraphicFramePr>
        <p:xfrm>
          <a:off x="571017" y="4920034"/>
          <a:ext cx="4776670" cy="11449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8335">
                  <a:extLst>
                    <a:ext uri="{9D8B030D-6E8A-4147-A177-3AD203B41FA5}">
                      <a16:colId xmlns:a16="http://schemas.microsoft.com/office/drawing/2014/main" val="2904999950"/>
                    </a:ext>
                  </a:extLst>
                </a:gridCol>
                <a:gridCol w="2388335">
                  <a:extLst>
                    <a:ext uri="{9D8B030D-6E8A-4147-A177-3AD203B41FA5}">
                      <a16:colId xmlns:a16="http://schemas.microsoft.com/office/drawing/2014/main" val="2077023843"/>
                    </a:ext>
                  </a:extLst>
                </a:gridCol>
              </a:tblGrid>
              <a:tr h="572478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762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368919"/>
                  </a:ext>
                </a:extLst>
              </a:tr>
              <a:tr h="572478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762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762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4269103"/>
                  </a:ext>
                </a:extLst>
              </a:tr>
            </a:tbl>
          </a:graphicData>
        </a:graphic>
      </p:graphicFrame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47161EDB-6C66-E0D7-85FC-CA9AF35058FD}"/>
              </a:ext>
            </a:extLst>
          </p:cNvPr>
          <p:cNvSpPr/>
          <p:nvPr/>
        </p:nvSpPr>
        <p:spPr>
          <a:xfrm>
            <a:off x="6634481" y="4837350"/>
            <a:ext cx="4986502" cy="12688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6A7C414-D3CA-7AA6-CB1E-65D72A1E46F3}"/>
                  </a:ext>
                </a:extLst>
              </p:cNvPr>
              <p:cNvSpPr txBox="1"/>
              <p:nvPr/>
            </p:nvSpPr>
            <p:spPr>
              <a:xfrm>
                <a:off x="557331" y="4501113"/>
                <a:ext cx="501387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600" b="1" dirty="0">
                    <a:solidFill>
                      <a:schemeClr val="bg1"/>
                    </a:solidFill>
                  </a:rPr>
                  <a:t>Técnicas de reducción de dimensionalidad sobre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MX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</m:oMath>
                </a14:m>
                <a:endParaRPr lang="es-MX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6A7C414-D3CA-7AA6-CB1E-65D72A1E4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31" y="4501113"/>
                <a:ext cx="5013873" cy="338554"/>
              </a:xfrm>
              <a:prstGeom prst="rect">
                <a:avLst/>
              </a:prstGeom>
              <a:blipFill>
                <a:blip r:embed="rId5"/>
                <a:stretch>
                  <a:fillRect l="-608" t="-5357" b="-2142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adroTexto 23">
            <a:extLst>
              <a:ext uri="{FF2B5EF4-FFF2-40B4-BE49-F238E27FC236}">
                <a16:creationId xmlns:a16="http://schemas.microsoft.com/office/drawing/2014/main" id="{3ADE36C1-5FEC-A5A5-A78B-94E70155E7E7}"/>
              </a:ext>
            </a:extLst>
          </p:cNvPr>
          <p:cNvSpPr txBox="1"/>
          <p:nvPr/>
        </p:nvSpPr>
        <p:spPr>
          <a:xfrm>
            <a:off x="6442831" y="4501346"/>
            <a:ext cx="5369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</a:rPr>
              <a:t>Aprendizaje de Representaciones Latentes en imágenes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2924A84-3261-1AAD-AF25-B2C6EF5A7056}"/>
              </a:ext>
            </a:extLst>
          </p:cNvPr>
          <p:cNvSpPr txBox="1"/>
          <p:nvPr/>
        </p:nvSpPr>
        <p:spPr>
          <a:xfrm>
            <a:off x="3819611" y="4956537"/>
            <a:ext cx="72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ICA</a:t>
            </a:r>
            <a:endParaRPr lang="es-MX" sz="1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74143DA-E37D-2AA8-4DE6-7F3F7D0C9F70}"/>
              </a:ext>
            </a:extLst>
          </p:cNvPr>
          <p:cNvSpPr txBox="1"/>
          <p:nvPr/>
        </p:nvSpPr>
        <p:spPr>
          <a:xfrm>
            <a:off x="1063230" y="5589392"/>
            <a:ext cx="145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AE-Lineal</a:t>
            </a:r>
            <a:endParaRPr lang="es-MX" sz="18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D5B759C-C60C-A6C3-EE4A-57FC159F7E45}"/>
              </a:ext>
            </a:extLst>
          </p:cNvPr>
          <p:cNvSpPr txBox="1"/>
          <p:nvPr/>
        </p:nvSpPr>
        <p:spPr>
          <a:xfrm>
            <a:off x="3409375" y="5589392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AE-No Lineal</a:t>
            </a:r>
            <a:endParaRPr lang="es-MX" sz="18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8D45BD2-D549-5420-7FDF-232F75A4C514}"/>
              </a:ext>
            </a:extLst>
          </p:cNvPr>
          <p:cNvSpPr txBox="1"/>
          <p:nvPr/>
        </p:nvSpPr>
        <p:spPr>
          <a:xfrm>
            <a:off x="1188171" y="4965897"/>
            <a:ext cx="10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PCA</a:t>
            </a:r>
            <a:endParaRPr lang="es-MX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905E3561-9A5E-65A8-2203-9AD5116030BC}"/>
              </a:ext>
            </a:extLst>
          </p:cNvPr>
          <p:cNvCxnSpPr>
            <a:cxnSpLocks/>
          </p:cNvCxnSpPr>
          <p:nvPr/>
        </p:nvCxnSpPr>
        <p:spPr>
          <a:xfrm flipV="1">
            <a:off x="9331476" y="5063023"/>
            <a:ext cx="2155915" cy="934999"/>
          </a:xfrm>
          <a:prstGeom prst="line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6F2E930E-741C-87C7-A7CE-338818CFB74F}"/>
              </a:ext>
            </a:extLst>
          </p:cNvPr>
          <p:cNvCxnSpPr>
            <a:cxnSpLocks/>
          </p:cNvCxnSpPr>
          <p:nvPr/>
        </p:nvCxnSpPr>
        <p:spPr>
          <a:xfrm flipV="1">
            <a:off x="6905021" y="5012984"/>
            <a:ext cx="2155915" cy="934999"/>
          </a:xfrm>
          <a:prstGeom prst="line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633A223-90D3-19CA-F3C1-C7EA530AA4CD}"/>
              </a:ext>
            </a:extLst>
          </p:cNvPr>
          <p:cNvSpPr txBox="1"/>
          <p:nvPr/>
        </p:nvSpPr>
        <p:spPr>
          <a:xfrm rot="20225894">
            <a:off x="6694829" y="512170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MS-HQCNN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6EF65F4-EC3B-1A53-24A3-8B32F618DB1C}"/>
              </a:ext>
            </a:extLst>
          </p:cNvPr>
          <p:cNvSpPr txBox="1"/>
          <p:nvPr/>
        </p:nvSpPr>
        <p:spPr>
          <a:xfrm rot="20225894">
            <a:off x="10485683" y="5510624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CNN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B2A325B-D7FB-9B94-ECF2-98BC307421EF}"/>
              </a:ext>
            </a:extLst>
          </p:cNvPr>
          <p:cNvSpPr txBox="1"/>
          <p:nvPr/>
        </p:nvSpPr>
        <p:spPr>
          <a:xfrm rot="20225894">
            <a:off x="8786695" y="5226245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HQCNN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0F129FA-EBA6-C943-ACAC-AD378D9C8BB8}"/>
              </a:ext>
            </a:extLst>
          </p:cNvPr>
          <p:cNvSpPr txBox="1"/>
          <p:nvPr/>
        </p:nvSpPr>
        <p:spPr>
          <a:xfrm>
            <a:off x="487220" y="6271687"/>
            <a:ext cx="6191925" cy="442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dirty="0"/>
              <a:t>https://github.com/Bayan0708/Quantum-Neural-Networks/tree/main/Zn_Latent_Space_Analysis%20directory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F5E8C74-D604-B45D-6D76-5371E566E571}"/>
              </a:ext>
            </a:extLst>
          </p:cNvPr>
          <p:cNvSpPr txBox="1"/>
          <p:nvPr/>
        </p:nvSpPr>
        <p:spPr>
          <a:xfrm>
            <a:off x="5646902" y="627044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1100" b="1" dirty="0"/>
              <a:t>https://github.com/Bayan0708/Quantum-Neural-Networks/tree/main/Latent_Representation_Learning_Architectures</a:t>
            </a:r>
          </a:p>
        </p:txBody>
      </p:sp>
    </p:spTree>
    <p:extLst>
      <p:ext uri="{BB962C8B-B14F-4D97-AF65-F5344CB8AC3E}">
        <p14:creationId xmlns:p14="http://schemas.microsoft.com/office/powerpoint/2010/main" val="113560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1ECD-646F-6412-F658-AC3AAC785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6FE8FAA-4B41-541B-137D-FD6A9A95AECA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EF1EAB2C-6001-1D9E-3041-8BCE3D8095B5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A31BB2D6-8BB1-D21F-DE3D-56A8A2FC3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97F78EF5-6451-390E-4004-245C48A9C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ítulo 3">
                <a:extLst>
                  <a:ext uri="{FF2B5EF4-FFF2-40B4-BE49-F238E27FC236}">
                    <a16:creationId xmlns:a16="http://schemas.microsoft.com/office/drawing/2014/main" id="{6F947DB5-6026-55E3-FBDD-1E27792DD3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04608" y="558000"/>
                <a:ext cx="10782783" cy="531474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s-MX" sz="3200" b="1" i="1" u="sng" dirty="0">
                    <a:solidFill>
                      <a:schemeClr val="tx1"/>
                    </a:solidFill>
                  </a:rPr>
                  <a:t>Técnicas de reducción de dimensionalidad sobre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3200" i="1" u="sng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3200" i="1" u="sng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MX" sz="3200" i="1" u="sng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</m:oMath>
                </a14:m>
                <a:endParaRPr lang="es-MX" sz="3200" i="1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ítulo 3">
                <a:extLst>
                  <a:ext uri="{FF2B5EF4-FFF2-40B4-BE49-F238E27FC236}">
                    <a16:creationId xmlns:a16="http://schemas.microsoft.com/office/drawing/2014/main" id="{6F947DB5-6026-55E3-FBDD-1E27792DD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04608" y="558000"/>
                <a:ext cx="10782783" cy="531474"/>
              </a:xfrm>
              <a:blipFill>
                <a:blip r:embed="rId4"/>
                <a:stretch>
                  <a:fillRect t="-22989" b="-3908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adroTexto 23">
            <a:extLst>
              <a:ext uri="{FF2B5EF4-FFF2-40B4-BE49-F238E27FC236}">
                <a16:creationId xmlns:a16="http://schemas.microsoft.com/office/drawing/2014/main" id="{4E3FDE3B-BA5A-5CE7-B059-DE644742BEA9}"/>
              </a:ext>
            </a:extLst>
          </p:cNvPr>
          <p:cNvSpPr txBox="1"/>
          <p:nvPr/>
        </p:nvSpPr>
        <p:spPr>
          <a:xfrm>
            <a:off x="6442831" y="4785826"/>
            <a:ext cx="5369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</a:rPr>
              <a:t>Aprendizaje de Representaciones Latentes en imágenes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64A8BE9-CA84-9F9A-0591-95C8682013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335" t="78469" r="48272" b="13944"/>
          <a:stretch>
            <a:fillRect/>
          </a:stretch>
        </p:blipFill>
        <p:spPr>
          <a:xfrm>
            <a:off x="7933" y="2980019"/>
            <a:ext cx="1278913" cy="73590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9936A5C-6CA0-0DB7-F90F-EFF3670D00F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5" t="87996" r="48272" b="9069"/>
          <a:stretch>
            <a:fillRect/>
          </a:stretch>
        </p:blipFill>
        <p:spPr>
          <a:xfrm>
            <a:off x="7933" y="3715927"/>
            <a:ext cx="1278913" cy="284733"/>
          </a:xfrm>
          <a:prstGeom prst="rect">
            <a:avLst/>
          </a:prstGeom>
        </p:spPr>
      </p:pic>
      <p:sp>
        <p:nvSpPr>
          <p:cNvPr id="23" name="Abrir llave 22">
            <a:extLst>
              <a:ext uri="{FF2B5EF4-FFF2-40B4-BE49-F238E27FC236}">
                <a16:creationId xmlns:a16="http://schemas.microsoft.com/office/drawing/2014/main" id="{018F6E4B-888A-09B6-64FA-94ECDCA0455B}"/>
              </a:ext>
            </a:extLst>
          </p:cNvPr>
          <p:cNvSpPr/>
          <p:nvPr/>
        </p:nvSpPr>
        <p:spPr>
          <a:xfrm>
            <a:off x="1543846" y="1186281"/>
            <a:ext cx="528794" cy="5438038"/>
          </a:xfrm>
          <a:prstGeom prst="leftBrace">
            <a:avLst>
              <a:gd name="adj1" fmla="val 86274"/>
              <a:gd name="adj2" fmla="val 42822"/>
            </a:avLst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6C060526-A135-EF8C-F493-70FF41A06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853409"/>
              </p:ext>
            </p:extLst>
          </p:nvPr>
        </p:nvGraphicFramePr>
        <p:xfrm>
          <a:off x="2329640" y="1104594"/>
          <a:ext cx="9387840" cy="5479479"/>
        </p:xfrm>
        <a:graphic>
          <a:graphicData uri="http://schemas.openxmlformats.org/drawingml/2006/table">
            <a:tbl>
              <a:tblPr/>
              <a:tblGrid>
                <a:gridCol w="1500680">
                  <a:extLst>
                    <a:ext uri="{9D8B030D-6E8A-4147-A177-3AD203B41FA5}">
                      <a16:colId xmlns:a16="http://schemas.microsoft.com/office/drawing/2014/main" val="4209632252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84067954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1419128515"/>
                    </a:ext>
                  </a:extLst>
                </a:gridCol>
                <a:gridCol w="1984200">
                  <a:extLst>
                    <a:ext uri="{9D8B030D-6E8A-4147-A177-3AD203B41FA5}">
                      <a16:colId xmlns:a16="http://schemas.microsoft.com/office/drawing/2014/main" val="292851593"/>
                    </a:ext>
                  </a:extLst>
                </a:gridCol>
              </a:tblGrid>
              <a:tr h="416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Método</a:t>
                      </a:r>
                      <a:endParaRPr lang="es-MX" sz="1800" dirty="0"/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b="1" dirty="0"/>
                        <a:t>¿Cómo reduce de 64 a 3 características?</a:t>
                      </a:r>
                      <a:endParaRPr lang="es-MX" sz="1200" dirty="0"/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b="1" dirty="0"/>
                        <a:t>¿Qué aprende durante el entrenamiento?</a:t>
                      </a:r>
                      <a:endParaRPr lang="es-MX" sz="1200" dirty="0"/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b="1" dirty="0"/>
                        <a:t>Salida utilizada</a:t>
                      </a:r>
                      <a:endParaRPr lang="es-MX" sz="1200" dirty="0"/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091759"/>
                  </a:ext>
                </a:extLst>
              </a:tr>
              <a:tr h="7043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PCA</a:t>
                      </a:r>
                      <a:endParaRPr lang="es-MX" sz="1600" dirty="0"/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/>
                        <a:t>Calcula una nueva base de coordenadas y proyecta cada muestra sobre las </a:t>
                      </a:r>
                      <a:r>
                        <a:rPr lang="es-MX" sz="1200" b="1" dirty="0"/>
                        <a:t>3 direcciones con mayor varianza</a:t>
                      </a:r>
                      <a:r>
                        <a:rPr lang="es-MX" sz="1200" dirty="0"/>
                        <a:t>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/>
                        <a:t>Las </a:t>
                      </a:r>
                      <a:r>
                        <a:rPr lang="es-MX" sz="1200" b="1" dirty="0"/>
                        <a:t>3 direcciones principales</a:t>
                      </a:r>
                      <a:r>
                        <a:rPr lang="es-MX" sz="1200" dirty="0"/>
                        <a:t> que explican la mayor variabilidad del conjunto de entrenamiento.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/>
                        <a:t>3 componentes principales.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693161"/>
                  </a:ext>
                </a:extLst>
              </a:tr>
              <a:tr h="8364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ICA</a:t>
                      </a:r>
                      <a:endParaRPr lang="es-MX" sz="1600" dirty="0"/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/>
                        <a:t>Calcula una nueva base donde las variables sean </a:t>
                      </a:r>
                      <a:r>
                        <a:rPr lang="es-MX" sz="1200" b="1" dirty="0"/>
                        <a:t>lo más independientes posible</a:t>
                      </a:r>
                      <a:r>
                        <a:rPr lang="es-MX" sz="1200" dirty="0"/>
                        <a:t> y proyecta cada muestra sobre esas tres direcciones.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/>
                        <a:t>Las </a:t>
                      </a:r>
                      <a:r>
                        <a:rPr lang="es-MX" sz="1200" b="1"/>
                        <a:t>3 componentes independientes</a:t>
                      </a:r>
                      <a:r>
                        <a:rPr lang="es-MX" sz="1200"/>
                        <a:t> aprendidas del conjunto de entrenamiento.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/>
                        <a:t>3 componentes independientes.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77435"/>
                  </a:ext>
                </a:extLst>
              </a:tr>
              <a:tr h="16289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AE-Lineal</a:t>
                      </a:r>
                      <a:endParaRPr lang="es-MX" sz="1600" dirty="0"/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/>
                        <a:t>Una red neuronal </a:t>
                      </a:r>
                      <a:r>
                        <a:rPr lang="es-MX" sz="1200" b="1" dirty="0"/>
                        <a:t>reduce progresivamente</a:t>
                      </a:r>
                      <a:r>
                        <a:rPr lang="es-MX" sz="1200" dirty="0"/>
                        <a:t> las 64 variables a </a:t>
                      </a:r>
                      <a:r>
                        <a:rPr lang="es-MX" sz="1200" b="1" dirty="0"/>
                        <a:t>3 neuronas</a:t>
                      </a:r>
                      <a:r>
                        <a:rPr lang="es-MX" sz="1200" dirty="0"/>
                        <a:t> mediante una única transformación lineal (</a:t>
                      </a:r>
                      <a:r>
                        <a:rPr lang="es-MX" sz="1200" b="1" dirty="0"/>
                        <a:t>64→3</a:t>
                      </a:r>
                      <a:r>
                        <a:rPr lang="es-MX" sz="1200" dirty="0"/>
                        <a:t>). Después intenta reconstruir las 64 variables (</a:t>
                      </a:r>
                      <a:r>
                        <a:rPr lang="es-MX" sz="1200" b="1" dirty="0"/>
                        <a:t>3→64</a:t>
                      </a:r>
                      <a:r>
                        <a:rPr lang="es-MX" sz="1200" dirty="0"/>
                        <a:t>) para comprobar cuánto se perdió durante la compresión.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/>
                        <a:t>Los pesos del </a:t>
                      </a:r>
                      <a:r>
                        <a:rPr lang="es-MX" sz="1200" b="1" dirty="0"/>
                        <a:t>Encoder (64→3)</a:t>
                      </a:r>
                      <a:r>
                        <a:rPr lang="es-MX" sz="1200" dirty="0"/>
                        <a:t> que permiten conservar la mayor cantidad posible de información minimizando el error de reconstrucción (MSE).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b="1" dirty="0"/>
                        <a:t>Solo las 3 neuronas del Encoder.</a:t>
                      </a:r>
                      <a:r>
                        <a:rPr lang="es-MX" sz="1200" dirty="0"/>
                        <a:t> El Decoder se elimina una vez finalizado el entrenamiento.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42146"/>
                  </a:ext>
                </a:extLst>
              </a:tr>
              <a:tr h="18930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AE-No Lineal</a:t>
                      </a:r>
                      <a:endParaRPr lang="es-MX" sz="1600" dirty="0"/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/>
                        <a:t>Una red neuronal primero transforma las 64 variables en </a:t>
                      </a:r>
                      <a:r>
                        <a:rPr lang="es-MX" sz="1200" b="1"/>
                        <a:t>32 neuronas ocultas</a:t>
                      </a:r>
                      <a:r>
                        <a:rPr lang="es-MX" sz="1200"/>
                        <a:t>, aplica una </a:t>
                      </a:r>
                      <a:r>
                        <a:rPr lang="es-MX" sz="1200" b="1"/>
                        <a:t>función de activación ReLU</a:t>
                      </a:r>
                      <a:r>
                        <a:rPr lang="es-MX" sz="1200"/>
                        <a:t>, y después las comprime hasta </a:t>
                      </a:r>
                      <a:r>
                        <a:rPr lang="es-MX" sz="1200" b="1"/>
                        <a:t>3 neuronas</a:t>
                      </a:r>
                      <a:r>
                        <a:rPr lang="es-MX" sz="1200"/>
                        <a:t> (</a:t>
                      </a:r>
                      <a:r>
                        <a:rPr lang="es-MX" sz="1200" b="1"/>
                        <a:t>64→32→3</a:t>
                      </a:r>
                      <a:r>
                        <a:rPr lang="es-MX" sz="1200"/>
                        <a:t>). Posteriormente reconstruye las 64 variables (</a:t>
                      </a:r>
                      <a:r>
                        <a:rPr lang="es-MX" sz="1200" b="1"/>
                        <a:t>3→32→64</a:t>
                      </a:r>
                      <a:r>
                        <a:rPr lang="es-MX" sz="1200"/>
                        <a:t>) para medir la pérdida de información.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/>
                        <a:t>Los pesos del </a:t>
                      </a:r>
                      <a:r>
                        <a:rPr lang="es-MX" sz="1200" b="1" dirty="0"/>
                        <a:t>Encoder (64→32→3)</a:t>
                      </a:r>
                      <a:r>
                        <a:rPr lang="es-MX" sz="1200" dirty="0"/>
                        <a:t>, capaz de aprender relaciones </a:t>
                      </a:r>
                      <a:r>
                        <a:rPr lang="es-MX" sz="1200" b="1" dirty="0"/>
                        <a:t>no lineales</a:t>
                      </a:r>
                      <a:r>
                        <a:rPr lang="es-MX" sz="1200" dirty="0"/>
                        <a:t> entre las variables gracias a la capa oculta y a la activación </a:t>
                      </a:r>
                      <a:r>
                        <a:rPr lang="es-MX" sz="1200" b="1" dirty="0"/>
                        <a:t>ReLU</a:t>
                      </a:r>
                      <a:r>
                        <a:rPr lang="es-MX" sz="1200" dirty="0"/>
                        <a:t>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b="1" dirty="0"/>
                        <a:t>Solo las 3 neuronas del Encoder.</a:t>
                      </a:r>
                      <a:r>
                        <a:rPr lang="es-MX" sz="1200" dirty="0"/>
                        <a:t> El Decoder se elimina una vez finalizado el entrenamiento.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504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96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brir llave 5">
            <a:extLst>
              <a:ext uri="{FF2B5EF4-FFF2-40B4-BE49-F238E27FC236}">
                <a16:creationId xmlns:a16="http://schemas.microsoft.com/office/drawing/2014/main" id="{38C1221C-B4DA-5FAF-2796-08F434967F5B}"/>
              </a:ext>
            </a:extLst>
          </p:cNvPr>
          <p:cNvSpPr/>
          <p:nvPr/>
        </p:nvSpPr>
        <p:spPr>
          <a:xfrm rot="5400000">
            <a:off x="5725613" y="-4124428"/>
            <a:ext cx="520861" cy="11257388"/>
          </a:xfrm>
          <a:prstGeom prst="leftBrace">
            <a:avLst>
              <a:gd name="adj1" fmla="val 86274"/>
              <a:gd name="adj2" fmla="val 50000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A409857-20D5-C3F6-4229-0A43B6435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5" t="80066" r="48272" b="13944"/>
          <a:stretch>
            <a:fillRect/>
          </a:stretch>
        </p:blipFill>
        <p:spPr>
          <a:xfrm>
            <a:off x="5346586" y="581844"/>
            <a:ext cx="1278913" cy="581027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147C91C-AA5A-07B7-8D3E-CCACA3624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5" t="87996" r="48272" b="9069"/>
          <a:stretch>
            <a:fillRect/>
          </a:stretch>
        </p:blipFill>
        <p:spPr>
          <a:xfrm>
            <a:off x="6625499" y="740006"/>
            <a:ext cx="1278913" cy="284733"/>
          </a:xfrm>
          <a:prstGeom prst="rect">
            <a:avLst/>
          </a:prstGeom>
        </p:spPr>
      </p:pic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154FC470-92EE-F757-BF1B-7484EEFE4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86831"/>
              </p:ext>
            </p:extLst>
          </p:nvPr>
        </p:nvGraphicFramePr>
        <p:xfrm>
          <a:off x="311870" y="1819570"/>
          <a:ext cx="11692410" cy="4822346"/>
        </p:xfrm>
        <a:graphic>
          <a:graphicData uri="http://schemas.openxmlformats.org/drawingml/2006/table">
            <a:tbl>
              <a:tblPr/>
              <a:tblGrid>
                <a:gridCol w="2338482">
                  <a:extLst>
                    <a:ext uri="{9D8B030D-6E8A-4147-A177-3AD203B41FA5}">
                      <a16:colId xmlns:a16="http://schemas.microsoft.com/office/drawing/2014/main" val="853997366"/>
                    </a:ext>
                  </a:extLst>
                </a:gridCol>
                <a:gridCol w="2338482">
                  <a:extLst>
                    <a:ext uri="{9D8B030D-6E8A-4147-A177-3AD203B41FA5}">
                      <a16:colId xmlns:a16="http://schemas.microsoft.com/office/drawing/2014/main" val="2036817211"/>
                    </a:ext>
                  </a:extLst>
                </a:gridCol>
                <a:gridCol w="2338482">
                  <a:extLst>
                    <a:ext uri="{9D8B030D-6E8A-4147-A177-3AD203B41FA5}">
                      <a16:colId xmlns:a16="http://schemas.microsoft.com/office/drawing/2014/main" val="3350434690"/>
                    </a:ext>
                  </a:extLst>
                </a:gridCol>
                <a:gridCol w="2338482">
                  <a:extLst>
                    <a:ext uri="{9D8B030D-6E8A-4147-A177-3AD203B41FA5}">
                      <a16:colId xmlns:a16="http://schemas.microsoft.com/office/drawing/2014/main" val="1608442156"/>
                    </a:ext>
                  </a:extLst>
                </a:gridCol>
                <a:gridCol w="2338482">
                  <a:extLst>
                    <a:ext uri="{9D8B030D-6E8A-4147-A177-3AD203B41FA5}">
                      <a16:colId xmlns:a16="http://schemas.microsoft.com/office/drawing/2014/main" val="2579011190"/>
                    </a:ext>
                  </a:extLst>
                </a:gridCol>
              </a:tblGrid>
              <a:tr h="2310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Etapa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PCA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ICA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AE-Lineal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AE-No Lineal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734383"/>
                  </a:ext>
                </a:extLst>
              </a:tr>
              <a:tr h="2310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Entradas de entrenamiento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/>
                        <a:t>TRAIN (64D)</a:t>
                      </a:r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/>
                        <a:t>TRAIN (64D)</a:t>
                      </a:r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/>
                        <a:t>TRAIN (64D)</a:t>
                      </a:r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/>
                        <a:t>TRAIN (64D)</a:t>
                      </a:r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441465"/>
                  </a:ext>
                </a:extLst>
              </a:tr>
              <a:tr h="429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Normalización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StandardScaler.fit()</a:t>
                      </a:r>
                      <a:r>
                        <a:rPr lang="es-MX" sz="1200" dirty="0"/>
                        <a:t> → </a:t>
                      </a:r>
                      <a:r>
                        <a:rPr lang="es-MX" sz="1200" dirty="0">
                          <a:latin typeface="Courier New" panose="02070309020205020404" pitchFamily="49" charset="0"/>
                        </a:rPr>
                        <a:t>transform(TRAIN)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7022"/>
                  </a:ext>
                </a:extLst>
              </a:tr>
              <a:tr h="8269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Aprendizaje (solo TRAIN)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PCA.fit(TRAIN_std)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FastICA.fit(TRAIN_std)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/>
                        <a:t>Entrenar </a:t>
                      </a:r>
                      <a:r>
                        <a:rPr lang="es-MX" sz="1200" b="1" dirty="0"/>
                        <a:t>Encoder (64→3)</a:t>
                      </a:r>
                      <a:r>
                        <a:rPr lang="es-MX" sz="1200" dirty="0"/>
                        <a:t> + </a:t>
                      </a:r>
                      <a:r>
                        <a:rPr lang="es-MX" sz="1200" b="1" dirty="0"/>
                        <a:t>Decoder (3→64)</a:t>
                      </a:r>
                      <a:r>
                        <a:rPr lang="es-MX" sz="1200" dirty="0"/>
                        <a:t> minimizando </a:t>
                      </a:r>
                      <a:r>
                        <a:rPr lang="es-MX" sz="1200" b="1" dirty="0"/>
                        <a:t>MSE(TRAIN_std, Reconstrucción)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/>
                        <a:t>Entrenar </a:t>
                      </a:r>
                      <a:r>
                        <a:rPr lang="es-MX" sz="1200" b="1" dirty="0"/>
                        <a:t>Encoder (64→32→3)</a:t>
                      </a:r>
                      <a:r>
                        <a:rPr lang="es-MX" sz="1200" dirty="0"/>
                        <a:t> + </a:t>
                      </a:r>
                      <a:r>
                        <a:rPr lang="es-MX" sz="1200" b="1" dirty="0"/>
                        <a:t>Decoder (3→32→64)</a:t>
                      </a:r>
                      <a:r>
                        <a:rPr lang="es-MX" sz="1200" dirty="0"/>
                        <a:t> minimizando </a:t>
                      </a:r>
                      <a:r>
                        <a:rPr lang="es-MX" sz="1200" b="1" dirty="0"/>
                        <a:t>MSE(TRAIN_std, Reconstrucción)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561477"/>
                  </a:ext>
                </a:extLst>
              </a:tr>
              <a:tr h="429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Extracción de características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PCA.transform(TRAIN_std)</a:t>
                      </a:r>
                      <a:r>
                        <a:rPr lang="es-MX" sz="1200" dirty="0"/>
                        <a:t> → </a:t>
                      </a:r>
                      <a:r>
                        <a:rPr lang="es-MX" sz="1200" b="1" dirty="0"/>
                        <a:t>Z_train (3F)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FastICA.transform(TRAIN_std)</a:t>
                      </a:r>
                      <a:r>
                        <a:rPr lang="es-MX" sz="1200" dirty="0"/>
                        <a:t> → </a:t>
                      </a:r>
                      <a:r>
                        <a:rPr lang="es-MX" sz="1200" b="1" dirty="0"/>
                        <a:t>Z_train (3F)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Encoder(TRAIN_std)</a:t>
                      </a:r>
                      <a:r>
                        <a:rPr lang="es-MX" sz="1200" dirty="0"/>
                        <a:t> → </a:t>
                      </a:r>
                      <a:r>
                        <a:rPr lang="es-MX" sz="1200" b="1" dirty="0"/>
                        <a:t>Z_train (3F)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Encoder(TRAIN_std)</a:t>
                      </a:r>
                      <a:r>
                        <a:rPr lang="es-MX" sz="1200" dirty="0"/>
                        <a:t> → </a:t>
                      </a:r>
                      <a:r>
                        <a:rPr lang="es-MX" sz="1200" b="1" dirty="0"/>
                        <a:t>Z_train (3F)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302603"/>
                  </a:ext>
                </a:extLst>
              </a:tr>
              <a:tr h="429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Escalado angular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MinMaxScaler.fit(Z_train)</a:t>
                      </a:r>
                      <a:r>
                        <a:rPr lang="es-MX" sz="1200" dirty="0"/>
                        <a:t> → </a:t>
                      </a:r>
                      <a:r>
                        <a:rPr lang="es-MX" sz="1200" dirty="0">
                          <a:latin typeface="Courier New" panose="02070309020205020404" pitchFamily="49" charset="0"/>
                        </a:rPr>
                        <a:t>transform(Z_train)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2043"/>
                  </a:ext>
                </a:extLst>
              </a:tr>
              <a:tr h="429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¿Cuándo entra TEST?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Aquí comienza el conjunto de prueba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Aquí comienza el conjunto de prueba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Aquí comienza el conjunto de prueba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Aquí comienza el conjunto de prueba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128401"/>
                  </a:ext>
                </a:extLst>
              </a:tr>
              <a:tr h="429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Normalización de TEST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transform(TEST)</a:t>
                      </a:r>
                      <a:r>
                        <a:rPr lang="es-MX" sz="1200" dirty="0"/>
                        <a:t> usando </a:t>
                      </a:r>
                      <a:r>
                        <a:rPr lang="es-MX" sz="1200" b="1" dirty="0"/>
                        <a:t>μ y σ aprendidas de TRAIN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257416"/>
                  </a:ext>
                </a:extLst>
              </a:tr>
              <a:tr h="4296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Obtención de las 3 características de TEST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PCA.transform(TEST_std)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FastICA.transform(TEST_std)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Encoder(TEST_std)</a:t>
                      </a:r>
                      <a:r>
                        <a:rPr lang="es-MX" sz="1200" dirty="0"/>
                        <a:t> </a:t>
                      </a:r>
                      <a:r>
                        <a:rPr lang="es-MX" sz="1200" i="1" dirty="0"/>
                        <a:t>(el Decoder ya no existe en esta etapa)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Encoder(TEST_std)</a:t>
                      </a:r>
                      <a:r>
                        <a:rPr lang="es-MX" sz="1200" dirty="0"/>
                        <a:t> </a:t>
                      </a:r>
                      <a:r>
                        <a:rPr lang="es-MX" sz="1200" i="1" dirty="0"/>
                        <a:t>(el Decoder ya no existe en esta etapa)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563335"/>
                  </a:ext>
                </a:extLst>
              </a:tr>
              <a:tr h="724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Escalado angular de TEST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200" dirty="0">
                          <a:latin typeface="Courier New" panose="02070309020205020404" pitchFamily="49" charset="0"/>
                        </a:rPr>
                        <a:t>MinMaxScaler.transform(Z_test)</a:t>
                      </a:r>
                      <a:r>
                        <a:rPr lang="es-MX" sz="1200" dirty="0"/>
                        <a:t> utilizando los </a:t>
                      </a:r>
                      <a:r>
                        <a:rPr lang="es-MX" sz="1200" b="1" dirty="0"/>
                        <a:t>mínimos y máximos calculados únicamente en TRAIN</a:t>
                      </a:r>
                      <a:r>
                        <a:rPr lang="es-MX" sz="1200" dirty="0"/>
                        <a:t>, obteniendo las </a:t>
                      </a:r>
                      <a:r>
                        <a:rPr lang="es-MX" sz="1200" b="1" dirty="0"/>
                        <a:t>3 variables finales en el intervalo [-π/2, π/2]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s-MX" sz="1200" dirty="0"/>
                    </a:p>
                  </a:txBody>
                  <a:tcPr marL="29804" marR="29804" marT="14902" marB="14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695897"/>
                  </a:ext>
                </a:extLst>
              </a:tr>
              <a:tr h="2310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Salida final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TRAIN 3F</a:t>
                      </a:r>
                      <a:r>
                        <a:rPr lang="es-MX" sz="1200" dirty="0"/>
                        <a:t> y </a:t>
                      </a:r>
                      <a:r>
                        <a:rPr lang="es-MX" sz="1200" b="1" dirty="0"/>
                        <a:t>TEST 3F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TRAIN 3F</a:t>
                      </a:r>
                      <a:r>
                        <a:rPr lang="es-MX" sz="1200" dirty="0"/>
                        <a:t> y </a:t>
                      </a:r>
                      <a:r>
                        <a:rPr lang="es-MX" sz="1200" b="1" dirty="0"/>
                        <a:t>TEST 3F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TRAIN 3F</a:t>
                      </a:r>
                      <a:r>
                        <a:rPr lang="es-MX" sz="1200" dirty="0"/>
                        <a:t> y </a:t>
                      </a:r>
                      <a:r>
                        <a:rPr lang="es-MX" sz="1200" b="1" dirty="0"/>
                        <a:t>TEST 3F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200" b="1" dirty="0"/>
                        <a:t>TRAIN 3F</a:t>
                      </a:r>
                      <a:r>
                        <a:rPr lang="es-MX" sz="1200" dirty="0"/>
                        <a:t> y </a:t>
                      </a:r>
                      <a:r>
                        <a:rPr lang="es-MX" sz="1200" b="1" dirty="0"/>
                        <a:t>TEST 3F</a:t>
                      </a:r>
                      <a:endParaRPr lang="es-MX" sz="1200" dirty="0"/>
                    </a:p>
                  </a:txBody>
                  <a:tcPr marL="29804" marR="29804" marT="14902" marB="14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014666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F993071-A4A6-3863-4B2F-92B38FB67B62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5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00B3B4B1-AB6D-8765-FFE5-2A31970685EC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 descr="Bilbao-Barcelona Analysis and PDEs meeting">
            <a:extLst>
              <a:ext uri="{FF2B5EF4-FFF2-40B4-BE49-F238E27FC236}">
                <a16:creationId xmlns:a16="http://schemas.microsoft.com/office/drawing/2014/main" id="{FBEEBF64-879D-3AF8-6AA1-7271785FD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0" name="Imagen 9" descr="EHU - YouTube">
            <a:extLst>
              <a:ext uri="{FF2B5EF4-FFF2-40B4-BE49-F238E27FC236}">
                <a16:creationId xmlns:a16="http://schemas.microsoft.com/office/drawing/2014/main" id="{D759AD5E-1763-4064-C114-4A50B397A1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6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CFC2921-6485-80B2-53CC-5C25B1836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287908"/>
              </p:ext>
            </p:extLst>
          </p:nvPr>
        </p:nvGraphicFramePr>
        <p:xfrm>
          <a:off x="334191" y="1603586"/>
          <a:ext cx="11523618" cy="5020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09">
                  <a:extLst>
                    <a:ext uri="{9D8B030D-6E8A-4147-A177-3AD203B41FA5}">
                      <a16:colId xmlns:a16="http://schemas.microsoft.com/office/drawing/2014/main" val="1058319392"/>
                    </a:ext>
                  </a:extLst>
                </a:gridCol>
                <a:gridCol w="5761809">
                  <a:extLst>
                    <a:ext uri="{9D8B030D-6E8A-4147-A177-3AD203B41FA5}">
                      <a16:colId xmlns:a16="http://schemas.microsoft.com/office/drawing/2014/main" val="3258512308"/>
                    </a:ext>
                  </a:extLst>
                </a:gridCol>
              </a:tblGrid>
              <a:tr h="2510367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891300"/>
                  </a:ext>
                </a:extLst>
              </a:tr>
              <a:tr h="2510367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041903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8713C618-072C-28B0-5800-34EF8B6A8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994" y="1728334"/>
            <a:ext cx="1608750" cy="234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2E707CC-1AE6-0D4E-451D-ABD549510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762" y="1838960"/>
            <a:ext cx="3961047" cy="222937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3B7F09-37FE-4665-6EA9-3AC82B10B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91" y="1728334"/>
            <a:ext cx="2507557" cy="234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3C5DA66-A58B-E232-42C7-2563F5D007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884" y="2094223"/>
            <a:ext cx="3127964" cy="166243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A118558-E4FD-DBEE-B7C0-49EC171BEF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931" y="4252626"/>
            <a:ext cx="1794831" cy="226036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35DC2E5-4701-628A-D5A8-151D404DBE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029" y="4303708"/>
            <a:ext cx="3886513" cy="215234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22CE7D0-C1BC-DDA4-9082-D03536C20C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32" y="4252626"/>
            <a:ext cx="767600" cy="228039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10E9A9A-E6C9-AECA-A62A-E6AFB61EB9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919" y="4349114"/>
            <a:ext cx="3852225" cy="2061527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DE6AB8D3-2AA7-3DFD-D7C4-81316EBC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200" b="1" dirty="0"/>
              <a:t>Error de reconstrucción de z64 para las 4 transformaciones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7DE8B8D7-C869-A710-B2AB-1B9FDC3431DD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6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37A86D4C-E0B8-C9A1-4D40-394422D67075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Imagen 19" descr="Bilbao-Barcelona Analysis and PDEs meeting">
            <a:extLst>
              <a:ext uri="{FF2B5EF4-FFF2-40B4-BE49-F238E27FC236}">
                <a16:creationId xmlns:a16="http://schemas.microsoft.com/office/drawing/2014/main" id="{7FFBCE33-6FAC-F3FF-8B97-B543984635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24" name="Imagen 23" descr="EHU - YouTube">
            <a:extLst>
              <a:ext uri="{FF2B5EF4-FFF2-40B4-BE49-F238E27FC236}">
                <a16:creationId xmlns:a16="http://schemas.microsoft.com/office/drawing/2014/main" id="{54CE6716-33E7-9001-3750-D66E4EFE290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B83FEF9B-F7E5-61B0-D40E-A58E6055357B}"/>
              </a:ext>
            </a:extLst>
          </p:cNvPr>
          <p:cNvSpPr txBox="1"/>
          <p:nvPr/>
        </p:nvSpPr>
        <p:spPr>
          <a:xfrm>
            <a:off x="11119138" y="1556730"/>
            <a:ext cx="72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ICA</a:t>
            </a:r>
            <a:endParaRPr lang="es-MX" sz="1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E1FE5E7-1471-4E64-8ED1-6E87AEF65BF0}"/>
              </a:ext>
            </a:extLst>
          </p:cNvPr>
          <p:cNvSpPr txBox="1"/>
          <p:nvPr/>
        </p:nvSpPr>
        <p:spPr>
          <a:xfrm>
            <a:off x="4781423" y="4068334"/>
            <a:ext cx="145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AE-Lineal</a:t>
            </a:r>
            <a:endParaRPr lang="es-MX" sz="1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ED5D474-76D1-C0A0-0853-A00F66952D6A}"/>
              </a:ext>
            </a:extLst>
          </p:cNvPr>
          <p:cNvSpPr txBox="1"/>
          <p:nvPr/>
        </p:nvSpPr>
        <p:spPr>
          <a:xfrm>
            <a:off x="10275858" y="4031940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AE-No Lineal</a:t>
            </a:r>
            <a:endParaRPr lang="es-MX" sz="1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60CD5EF-EB6A-A64C-A561-427A65E47E6F}"/>
              </a:ext>
            </a:extLst>
          </p:cNvPr>
          <p:cNvSpPr txBox="1"/>
          <p:nvPr/>
        </p:nvSpPr>
        <p:spPr>
          <a:xfrm>
            <a:off x="5145994" y="1588466"/>
            <a:ext cx="10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PCA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0250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17611-EF24-7415-6179-B8874DE3F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33FC4E2-3A40-0B71-550A-B44EBCAB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31" y="387852"/>
            <a:ext cx="10515600" cy="1018536"/>
          </a:xfrm>
        </p:spPr>
        <p:txBody>
          <a:bodyPr>
            <a:normAutofit/>
          </a:bodyPr>
          <a:lstStyle/>
          <a:p>
            <a:pPr algn="ctr"/>
            <a:r>
              <a:rPr lang="es-MX" sz="2800" b="1" dirty="0"/>
              <a:t>AUC de z64 para las 4 transformaciones (SVM RBF / RF / LR).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C9336A03-DFCA-D8A8-9ABD-7001D13733DB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7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76C16B37-2B91-F936-E416-173F2FACCB04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Imagen 19" descr="Bilbao-Barcelona Analysis and PDEs meeting">
            <a:extLst>
              <a:ext uri="{FF2B5EF4-FFF2-40B4-BE49-F238E27FC236}">
                <a16:creationId xmlns:a16="http://schemas.microsoft.com/office/drawing/2014/main" id="{BEEEB258-03B3-4E27-9616-51865BFF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24" name="Imagen 23" descr="EHU - YouTube">
            <a:extLst>
              <a:ext uri="{FF2B5EF4-FFF2-40B4-BE49-F238E27FC236}">
                <a16:creationId xmlns:a16="http://schemas.microsoft.com/office/drawing/2014/main" id="{C50759AB-FC34-B571-B892-91096A01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2CA2D130-E115-6F5B-05D4-2ED774430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101876"/>
              </p:ext>
            </p:extLst>
          </p:nvPr>
        </p:nvGraphicFramePr>
        <p:xfrm>
          <a:off x="1162203" y="1304322"/>
          <a:ext cx="9438992" cy="532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9496">
                  <a:extLst>
                    <a:ext uri="{9D8B030D-6E8A-4147-A177-3AD203B41FA5}">
                      <a16:colId xmlns:a16="http://schemas.microsoft.com/office/drawing/2014/main" val="1058319392"/>
                    </a:ext>
                  </a:extLst>
                </a:gridCol>
                <a:gridCol w="4719496">
                  <a:extLst>
                    <a:ext uri="{9D8B030D-6E8A-4147-A177-3AD203B41FA5}">
                      <a16:colId xmlns:a16="http://schemas.microsoft.com/office/drawing/2014/main" val="3258512308"/>
                    </a:ext>
                  </a:extLst>
                </a:gridCol>
              </a:tblGrid>
              <a:tr h="2663174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891300"/>
                  </a:ext>
                </a:extLst>
              </a:tr>
              <a:tr h="2663174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041903"/>
                  </a:ext>
                </a:extLst>
              </a:tr>
            </a:tbl>
          </a:graphicData>
        </a:graphic>
      </p:graphicFrame>
      <p:sp>
        <p:nvSpPr>
          <p:cNvPr id="57" name="CuadroTexto 56">
            <a:extLst>
              <a:ext uri="{FF2B5EF4-FFF2-40B4-BE49-F238E27FC236}">
                <a16:creationId xmlns:a16="http://schemas.microsoft.com/office/drawing/2014/main" id="{9E4E7A10-695C-6C68-0AEF-620AD88527A9}"/>
              </a:ext>
            </a:extLst>
          </p:cNvPr>
          <p:cNvSpPr txBox="1"/>
          <p:nvPr/>
        </p:nvSpPr>
        <p:spPr>
          <a:xfrm>
            <a:off x="10616817" y="1198995"/>
            <a:ext cx="72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ICA</a:t>
            </a:r>
            <a:endParaRPr lang="es-MX" sz="18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0D9CA25-72C0-D9C0-34A4-23097D6A8553}"/>
              </a:ext>
            </a:extLst>
          </p:cNvPr>
          <p:cNvSpPr txBox="1"/>
          <p:nvPr/>
        </p:nvSpPr>
        <p:spPr>
          <a:xfrm>
            <a:off x="-111293" y="3984152"/>
            <a:ext cx="145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AE-Lineal</a:t>
            </a:r>
            <a:endParaRPr lang="es-MX" sz="1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756C546-FBF0-E268-324A-CF4D060CD269}"/>
              </a:ext>
            </a:extLst>
          </p:cNvPr>
          <p:cNvSpPr txBox="1"/>
          <p:nvPr/>
        </p:nvSpPr>
        <p:spPr>
          <a:xfrm>
            <a:off x="10510520" y="4066372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AE-No Lineal</a:t>
            </a:r>
            <a:endParaRPr lang="es-MX" sz="18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0DE4E7B-CF02-7D52-8711-BA60BB5B08F5}"/>
              </a:ext>
            </a:extLst>
          </p:cNvPr>
          <p:cNvSpPr txBox="1"/>
          <p:nvPr/>
        </p:nvSpPr>
        <p:spPr>
          <a:xfrm>
            <a:off x="303244" y="1265985"/>
            <a:ext cx="10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PCA</a:t>
            </a:r>
            <a:endParaRPr lang="es-MX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AA9DC80-D757-1FFB-0325-B91A920746B3}"/>
              </a:ext>
            </a:extLst>
          </p:cNvPr>
          <p:cNvSpPr txBox="1"/>
          <p:nvPr/>
        </p:nvSpPr>
        <p:spPr>
          <a:xfrm rot="16200000">
            <a:off x="10880021" y="1136020"/>
            <a:ext cx="2346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dirty="0"/>
              <a:t>Area </a:t>
            </a:r>
            <a:r>
              <a:rPr lang="es-MX" sz="1200" b="1" dirty="0" err="1"/>
              <a:t>Under</a:t>
            </a:r>
            <a:r>
              <a:rPr lang="es-MX" sz="1200" b="1" dirty="0"/>
              <a:t> </a:t>
            </a:r>
            <a:r>
              <a:rPr lang="es-MX" sz="1200" b="1" dirty="0" err="1"/>
              <a:t>the</a:t>
            </a:r>
            <a:r>
              <a:rPr lang="es-MX" sz="1200" b="1" dirty="0"/>
              <a:t> Curve</a:t>
            </a:r>
          </a:p>
        </p:txBody>
      </p:sp>
      <p:pic>
        <p:nvPicPr>
          <p:cNvPr id="67" name="Imagen 66">
            <a:extLst>
              <a:ext uri="{FF2B5EF4-FFF2-40B4-BE49-F238E27FC236}">
                <a16:creationId xmlns:a16="http://schemas.microsoft.com/office/drawing/2014/main" id="{798A1437-93BD-7F90-6119-896E074B1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223" y="4056764"/>
            <a:ext cx="4586898" cy="2413384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6058205A-413C-E1DB-7D72-B76DB3BA73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0" b="6124"/>
          <a:stretch>
            <a:fillRect/>
          </a:stretch>
        </p:blipFill>
        <p:spPr>
          <a:xfrm>
            <a:off x="1319244" y="1376242"/>
            <a:ext cx="4322857" cy="2520000"/>
          </a:xfrm>
          <a:prstGeom prst="rect">
            <a:avLst/>
          </a:prstGeom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ECEF1041-2E1E-827B-6CF1-7A33F7CDBB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1" t="11933" r="3150" b="13259"/>
          <a:stretch>
            <a:fillRect/>
          </a:stretch>
        </p:blipFill>
        <p:spPr>
          <a:xfrm>
            <a:off x="6049088" y="1376242"/>
            <a:ext cx="4280949" cy="2520000"/>
          </a:xfrm>
          <a:prstGeom prst="rect">
            <a:avLst/>
          </a:prstGeom>
        </p:spPr>
      </p:pic>
      <p:pic>
        <p:nvPicPr>
          <p:cNvPr id="73" name="Imagen 72">
            <a:extLst>
              <a:ext uri="{FF2B5EF4-FFF2-40B4-BE49-F238E27FC236}">
                <a16:creationId xmlns:a16="http://schemas.microsoft.com/office/drawing/2014/main" id="{C3A58B4D-78C8-51BB-0DB8-7673919D85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" t="7844" r="7439" b="566"/>
          <a:stretch>
            <a:fillRect/>
          </a:stretch>
        </p:blipFill>
        <p:spPr>
          <a:xfrm>
            <a:off x="6045895" y="4056764"/>
            <a:ext cx="4287333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2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4C46-CF71-0A7D-B0AA-7EC3B4B5A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6BF1B4AE-FCAC-0DD8-FC80-EEC2C96B9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452189"/>
              </p:ext>
            </p:extLst>
          </p:nvPr>
        </p:nvGraphicFramePr>
        <p:xfrm>
          <a:off x="303244" y="908006"/>
          <a:ext cx="11451876" cy="572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5938">
                  <a:extLst>
                    <a:ext uri="{9D8B030D-6E8A-4147-A177-3AD203B41FA5}">
                      <a16:colId xmlns:a16="http://schemas.microsoft.com/office/drawing/2014/main" val="1058319392"/>
                    </a:ext>
                  </a:extLst>
                </a:gridCol>
                <a:gridCol w="5725938">
                  <a:extLst>
                    <a:ext uri="{9D8B030D-6E8A-4147-A177-3AD203B41FA5}">
                      <a16:colId xmlns:a16="http://schemas.microsoft.com/office/drawing/2014/main" val="3258512308"/>
                    </a:ext>
                  </a:extLst>
                </a:gridCol>
              </a:tblGrid>
              <a:tr h="286133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891300"/>
                  </a:ext>
                </a:extLst>
              </a:tr>
              <a:tr h="286133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041903"/>
                  </a:ext>
                </a:extLst>
              </a:tr>
            </a:tbl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027AC05F-49C0-C373-ADA6-8B472145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0000"/>
          </a:xfrm>
        </p:spPr>
        <p:txBody>
          <a:bodyPr>
            <a:normAutofit/>
          </a:bodyPr>
          <a:lstStyle/>
          <a:p>
            <a:pPr algn="ctr"/>
            <a:r>
              <a:rPr lang="es-MX" sz="2800" b="1" dirty="0"/>
              <a:t>ACC de z64 para las 4 transformaciones (SVM RBF / RF / LR).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321700F2-21A2-C2F6-D58F-EB3D49C10AE3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8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5D453953-13BA-DE8D-300E-00910E05BFB4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Imagen 19" descr="Bilbao-Barcelona Analysis and PDEs meeting">
            <a:extLst>
              <a:ext uri="{FF2B5EF4-FFF2-40B4-BE49-F238E27FC236}">
                <a16:creationId xmlns:a16="http://schemas.microsoft.com/office/drawing/2014/main" id="{72EF9BD3-23D4-C2FD-3540-AD80973F7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24" name="Imagen 23" descr="EHU - YouTube">
            <a:extLst>
              <a:ext uri="{FF2B5EF4-FFF2-40B4-BE49-F238E27FC236}">
                <a16:creationId xmlns:a16="http://schemas.microsoft.com/office/drawing/2014/main" id="{BC4E1350-CFA1-71D1-95F6-0BBB59B11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3F66393-0E32-BB27-F0D3-A39633848D91}"/>
              </a:ext>
            </a:extLst>
          </p:cNvPr>
          <p:cNvSpPr txBox="1"/>
          <p:nvPr/>
        </p:nvSpPr>
        <p:spPr>
          <a:xfrm rot="5400000">
            <a:off x="11528076" y="1962763"/>
            <a:ext cx="72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ICA</a:t>
            </a:r>
            <a:endParaRPr lang="es-MX" sz="18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B66502-472B-C4EA-18E4-8296A02C49A0}"/>
              </a:ext>
            </a:extLst>
          </p:cNvPr>
          <p:cNvSpPr txBox="1"/>
          <p:nvPr/>
        </p:nvSpPr>
        <p:spPr>
          <a:xfrm rot="16200000">
            <a:off x="-556832" y="5216785"/>
            <a:ext cx="145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AE-Lineal</a:t>
            </a:r>
            <a:endParaRPr lang="es-MX" sz="1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436F113-4B76-94D7-FBB0-43B43185AF6A}"/>
              </a:ext>
            </a:extLst>
          </p:cNvPr>
          <p:cNvSpPr txBox="1"/>
          <p:nvPr/>
        </p:nvSpPr>
        <p:spPr>
          <a:xfrm rot="5400000">
            <a:off x="11096506" y="5012098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AE-No Lineal</a:t>
            </a:r>
            <a:endParaRPr lang="es-MX" sz="18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649CCA4-18E4-E1B6-D2E0-6C1661B2DEB9}"/>
              </a:ext>
            </a:extLst>
          </p:cNvPr>
          <p:cNvSpPr txBox="1"/>
          <p:nvPr/>
        </p:nvSpPr>
        <p:spPr>
          <a:xfrm rot="16200000">
            <a:off x="-338392" y="2069254"/>
            <a:ext cx="10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PCA</a:t>
            </a:r>
            <a:endParaRPr lang="es-MX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EB0E061-B209-7E1C-C2F7-8EAF0FAA1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99" y="3972874"/>
            <a:ext cx="1711469" cy="25200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FA958CF-653F-B22B-EF68-C6B7F4C325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423" y="3972874"/>
            <a:ext cx="1680001" cy="2520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D989359-E2AF-B156-C9F4-A8C6F6FD12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279" y="3972874"/>
            <a:ext cx="1721119" cy="25200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5AED4C4-51EF-3775-3CF6-2D297F1174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44" y="1058246"/>
            <a:ext cx="1857324" cy="25200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19439C0-3025-9B97-DCC4-1D04594F20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234" y="1085126"/>
            <a:ext cx="1869947" cy="2520000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2F11A76-4DF7-6266-40F7-5609F04525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379" y="1071686"/>
            <a:ext cx="1902900" cy="252000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41D65EAA-C518-D74D-365B-FDBAF95B81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549" y="945636"/>
            <a:ext cx="1896902" cy="25200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2EEA4D93-7125-61C1-9225-8B587178B5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819" y="1024262"/>
            <a:ext cx="1836000" cy="778618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457E922E-AF88-AE21-7A54-E4A4CD0D2C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770" y="1864901"/>
            <a:ext cx="1800000" cy="991169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FDCF8FE4-86F3-03C7-4177-6725EC8DA0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250" y="1025593"/>
            <a:ext cx="1800000" cy="685714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1FF5FD4A-0FE1-A7EE-A822-5A130CD143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250" y="1857446"/>
            <a:ext cx="1836000" cy="965600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D1F2CF92-9D2C-44AA-5D05-58E0757B5CE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577" y="3936764"/>
            <a:ext cx="1762332" cy="2520000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97A0C061-A35C-A158-E0C6-5E67FD00C1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321" y="3972874"/>
            <a:ext cx="1762331" cy="2520000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9881776D-E145-56C2-41C1-CA5911CAC47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822" y="3997528"/>
            <a:ext cx="1866629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94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9CFC-9D3A-6590-71C5-C4F0E029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C50D1029-94F8-83CD-7E29-9F36CE0E4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04915"/>
              </p:ext>
            </p:extLst>
          </p:nvPr>
        </p:nvGraphicFramePr>
        <p:xfrm>
          <a:off x="303244" y="1304322"/>
          <a:ext cx="11451876" cy="532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5938">
                  <a:extLst>
                    <a:ext uri="{9D8B030D-6E8A-4147-A177-3AD203B41FA5}">
                      <a16:colId xmlns:a16="http://schemas.microsoft.com/office/drawing/2014/main" val="1058319392"/>
                    </a:ext>
                  </a:extLst>
                </a:gridCol>
                <a:gridCol w="5725938">
                  <a:extLst>
                    <a:ext uri="{9D8B030D-6E8A-4147-A177-3AD203B41FA5}">
                      <a16:colId xmlns:a16="http://schemas.microsoft.com/office/drawing/2014/main" val="3258512308"/>
                    </a:ext>
                  </a:extLst>
                </a:gridCol>
              </a:tblGrid>
              <a:tr h="2663174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891300"/>
                  </a:ext>
                </a:extLst>
              </a:tr>
              <a:tr h="2663174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041903"/>
                  </a:ext>
                </a:extLst>
              </a:tr>
            </a:tbl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4872F8CA-A0CF-0A22-D9E4-A7EF4868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2800" b="1" dirty="0"/>
              <a:t>Mejor resultado de z64 por modelo:(SVM RBF / RF / LR).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E95BFD65-775C-731C-D2C2-C0326641620C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9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CD011C3D-D2FF-C411-286B-39EC1AD91D1F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Imagen 19" descr="Bilbao-Barcelona Analysis and PDEs meeting">
            <a:extLst>
              <a:ext uri="{FF2B5EF4-FFF2-40B4-BE49-F238E27FC236}">
                <a16:creationId xmlns:a16="http://schemas.microsoft.com/office/drawing/2014/main" id="{385E4203-1152-65D4-B67B-1CF0F3AE0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24" name="Imagen 23" descr="EHU - YouTube">
            <a:extLst>
              <a:ext uri="{FF2B5EF4-FFF2-40B4-BE49-F238E27FC236}">
                <a16:creationId xmlns:a16="http://schemas.microsoft.com/office/drawing/2014/main" id="{2F17B2AE-FB68-6BA2-EB78-5DC7881ED5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20E4690-86AC-8D61-1983-2CAEEBEC9B0F}"/>
              </a:ext>
            </a:extLst>
          </p:cNvPr>
          <p:cNvSpPr txBox="1"/>
          <p:nvPr/>
        </p:nvSpPr>
        <p:spPr>
          <a:xfrm>
            <a:off x="11167396" y="1245688"/>
            <a:ext cx="72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ICA</a:t>
            </a:r>
            <a:endParaRPr lang="es-MX" sz="18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8F01202-8C37-B5C5-84D9-CC2A96DFBE85}"/>
              </a:ext>
            </a:extLst>
          </p:cNvPr>
          <p:cNvSpPr txBox="1"/>
          <p:nvPr/>
        </p:nvSpPr>
        <p:spPr>
          <a:xfrm>
            <a:off x="169608" y="3925061"/>
            <a:ext cx="145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AE-Lineal</a:t>
            </a:r>
            <a:endParaRPr lang="es-MX" sz="1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DDA936A-A68A-E38A-FDE6-5CD642A4D6A2}"/>
              </a:ext>
            </a:extLst>
          </p:cNvPr>
          <p:cNvSpPr txBox="1"/>
          <p:nvPr/>
        </p:nvSpPr>
        <p:spPr>
          <a:xfrm>
            <a:off x="10135378" y="3918036"/>
            <a:ext cx="168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/>
              <a:t>AE-No Lineal</a:t>
            </a:r>
            <a:endParaRPr lang="es-MX" sz="18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19EA3EA-33B4-30C4-0F2F-D3B136BC71A0}"/>
              </a:ext>
            </a:extLst>
          </p:cNvPr>
          <p:cNvSpPr txBox="1"/>
          <p:nvPr/>
        </p:nvSpPr>
        <p:spPr>
          <a:xfrm>
            <a:off x="62722" y="1254112"/>
            <a:ext cx="10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PCA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E1A4B5-E2BC-624E-3ECD-B830531C3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436" y="4775019"/>
            <a:ext cx="5458844" cy="136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783D3F9-6052-0BDA-7470-62CF5758C7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677" y="1878693"/>
            <a:ext cx="5283743" cy="1368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265EE78-3C0F-54B7-CA6E-3F830888AE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99" y="1972285"/>
            <a:ext cx="5256000" cy="121770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D9EBB6A2-25B1-F972-5929-2F48FFB7B7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67" b="3477"/>
          <a:stretch>
            <a:fillRect/>
          </a:stretch>
        </p:blipFill>
        <p:spPr>
          <a:xfrm>
            <a:off x="2002022" y="4754978"/>
            <a:ext cx="3515166" cy="3600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2B89D8F0-EDF4-9D32-A740-05ED9A5852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41"/>
          <a:stretch>
            <a:fillRect/>
          </a:stretch>
        </p:blipFill>
        <p:spPr>
          <a:xfrm>
            <a:off x="1966595" y="5405969"/>
            <a:ext cx="3550593" cy="36000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FD6DA046-BD2E-25FA-8468-551738F2DE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28"/>
          <a:stretch>
            <a:fillRect/>
          </a:stretch>
        </p:blipFill>
        <p:spPr>
          <a:xfrm>
            <a:off x="1925298" y="5114978"/>
            <a:ext cx="3764531" cy="25200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C0F6BC79-7354-6461-A989-58D92CFD6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8" r="64180"/>
          <a:stretch>
            <a:fillRect/>
          </a:stretch>
        </p:blipFill>
        <p:spPr>
          <a:xfrm>
            <a:off x="426193" y="4763202"/>
            <a:ext cx="1452880" cy="1217705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69CC21E7-A085-0C34-2A63-238AA30C92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47"/>
          <a:stretch>
            <a:fillRect/>
          </a:stretch>
        </p:blipFill>
        <p:spPr>
          <a:xfrm>
            <a:off x="2012709" y="5765969"/>
            <a:ext cx="3515166" cy="21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4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29A7-4DEE-3C3B-989B-5C0CA125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80E71D6-B279-1678-CF27-57C94919A13C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10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9F40BA86-B912-4F4F-22A7-8147FB9E2789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5CDB1302-29F8-5705-2B22-2D8F4DF37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228082"/>
              </p:ext>
            </p:extLst>
          </p:nvPr>
        </p:nvGraphicFramePr>
        <p:xfrm>
          <a:off x="187720" y="2984528"/>
          <a:ext cx="11816559" cy="36825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8853">
                  <a:extLst>
                    <a:ext uri="{9D8B030D-6E8A-4147-A177-3AD203B41FA5}">
                      <a16:colId xmlns:a16="http://schemas.microsoft.com/office/drawing/2014/main" val="1624216882"/>
                    </a:ext>
                  </a:extLst>
                </a:gridCol>
                <a:gridCol w="3938853">
                  <a:extLst>
                    <a:ext uri="{9D8B030D-6E8A-4147-A177-3AD203B41FA5}">
                      <a16:colId xmlns:a16="http://schemas.microsoft.com/office/drawing/2014/main" val="121225914"/>
                    </a:ext>
                  </a:extLst>
                </a:gridCol>
                <a:gridCol w="3938853">
                  <a:extLst>
                    <a:ext uri="{9D8B030D-6E8A-4147-A177-3AD203B41FA5}">
                      <a16:colId xmlns:a16="http://schemas.microsoft.com/office/drawing/2014/main" val="4140941760"/>
                    </a:ext>
                  </a:extLst>
                </a:gridCol>
              </a:tblGrid>
              <a:tr h="317946">
                <a:tc>
                  <a:txBody>
                    <a:bodyPr/>
                    <a:lstStyle/>
                    <a:p>
                      <a:pPr algn="ctr"/>
                      <a:r>
                        <a:rPr lang="es-MX" b="1" dirty="0">
                          <a:solidFill>
                            <a:schemeClr val="bg1"/>
                          </a:solidFill>
                        </a:rPr>
                        <a:t>MS-HQCNN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>
                          <a:solidFill>
                            <a:schemeClr val="bg1"/>
                          </a:solidFill>
                        </a:rPr>
                        <a:t>HQCNN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>
                          <a:solidFill>
                            <a:schemeClr val="bg1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111401"/>
                  </a:ext>
                </a:extLst>
              </a:tr>
              <a:tr h="3316749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391185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AE77BC35-9A0E-B4F4-4526-F6B0EE78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AE935B36-223B-0F80-7934-6473A150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541F531-FE08-23C2-08AB-D38961BC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08" y="558000"/>
            <a:ext cx="10782783" cy="531474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ctr"/>
            <a:r>
              <a:rPr lang="es-ES" sz="3200" b="1" i="1" u="sng" dirty="0"/>
              <a:t>Aprendizaje de Representaciones Latentes en imágenes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6394A08-07F4-9560-48E3-E6BD088A2916}"/>
              </a:ext>
            </a:extLst>
          </p:cNvPr>
          <p:cNvSpPr txBox="1"/>
          <p:nvPr/>
        </p:nvSpPr>
        <p:spPr>
          <a:xfrm>
            <a:off x="6442831" y="4785826"/>
            <a:ext cx="5369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</a:rPr>
              <a:t>Aprendizaje de Representaciones Latentes en imágenes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EEF9449-FD52-664D-4649-49B0754C1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336" y="3936715"/>
            <a:ext cx="3161325" cy="194421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0D603C8-1C0B-2FA3-D804-9E71946AF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229" y="3429000"/>
            <a:ext cx="2974162" cy="243096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EA27F7E3-307F-FA86-0D7E-C2F4BB068337}"/>
              </a:ext>
            </a:extLst>
          </p:cNvPr>
          <p:cNvSpPr txBox="1"/>
          <p:nvPr/>
        </p:nvSpPr>
        <p:spPr>
          <a:xfrm>
            <a:off x="8007509" y="5880930"/>
            <a:ext cx="399676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900" dirty="0"/>
              <a:t>E. H. Houssein, Z. </a:t>
            </a:r>
            <a:r>
              <a:rPr lang="es-MX" sz="900" dirty="0" err="1"/>
              <a:t>Abohashima</a:t>
            </a:r>
            <a:r>
              <a:rPr lang="es-MX" sz="900" dirty="0"/>
              <a:t>, M. </a:t>
            </a:r>
            <a:r>
              <a:rPr lang="es-MX" sz="900" dirty="0" err="1"/>
              <a:t>Elhoseny</a:t>
            </a:r>
            <a:r>
              <a:rPr lang="es-MX" sz="900" dirty="0"/>
              <a:t>, and W. M. Mohamed, "Hybrid quantum-</a:t>
            </a:r>
            <a:r>
              <a:rPr lang="es-MX" sz="900" dirty="0" err="1"/>
              <a:t>classical</a:t>
            </a:r>
            <a:r>
              <a:rPr lang="es-MX" sz="900" dirty="0"/>
              <a:t> </a:t>
            </a:r>
            <a:r>
              <a:rPr lang="es-MX" sz="900" dirty="0" err="1"/>
              <a:t>convolutional</a:t>
            </a:r>
            <a:r>
              <a:rPr lang="es-MX" sz="900" dirty="0"/>
              <a:t> neural </a:t>
            </a:r>
            <a:r>
              <a:rPr lang="es-MX" sz="900" dirty="0" err="1"/>
              <a:t>network</a:t>
            </a:r>
            <a:r>
              <a:rPr lang="es-MX" sz="900" dirty="0"/>
              <a:t> </a:t>
            </a:r>
            <a:r>
              <a:rPr lang="es-MX" sz="900" dirty="0" err="1"/>
              <a:t>model</a:t>
            </a:r>
            <a:r>
              <a:rPr lang="es-MX" sz="900" dirty="0"/>
              <a:t> </a:t>
            </a:r>
            <a:r>
              <a:rPr lang="es-MX" sz="900" dirty="0" err="1"/>
              <a:t>for</a:t>
            </a:r>
            <a:r>
              <a:rPr lang="es-MX" sz="900" dirty="0"/>
              <a:t> COVID-19 </a:t>
            </a:r>
            <a:r>
              <a:rPr lang="es-MX" sz="900" dirty="0" err="1"/>
              <a:t>prediction</a:t>
            </a:r>
            <a:r>
              <a:rPr lang="es-MX" sz="900" dirty="0"/>
              <a:t> </a:t>
            </a:r>
            <a:r>
              <a:rPr lang="es-MX" sz="900" dirty="0" err="1"/>
              <a:t>using</a:t>
            </a:r>
            <a:r>
              <a:rPr lang="es-MX" sz="900" dirty="0"/>
              <a:t> </a:t>
            </a:r>
            <a:r>
              <a:rPr lang="es-MX" sz="900" dirty="0" err="1"/>
              <a:t>chest</a:t>
            </a:r>
            <a:r>
              <a:rPr lang="es-MX" sz="900" dirty="0"/>
              <a:t> X-ray </a:t>
            </a:r>
            <a:r>
              <a:rPr lang="es-MX" sz="900" dirty="0" err="1"/>
              <a:t>images</a:t>
            </a:r>
            <a:r>
              <a:rPr lang="es-MX" sz="900" dirty="0"/>
              <a:t>," </a:t>
            </a:r>
            <a:r>
              <a:rPr lang="es-MX" sz="900" i="1" dirty="0" err="1"/>
              <a:t>Journal</a:t>
            </a:r>
            <a:r>
              <a:rPr lang="es-MX" sz="900" i="1" dirty="0"/>
              <a:t> </a:t>
            </a:r>
            <a:r>
              <a:rPr lang="es-MX" sz="900" i="1" dirty="0" err="1"/>
              <a:t>of</a:t>
            </a:r>
            <a:r>
              <a:rPr lang="es-MX" sz="900" i="1" dirty="0"/>
              <a:t> </a:t>
            </a:r>
            <a:r>
              <a:rPr lang="es-MX" sz="900" i="1" dirty="0" err="1"/>
              <a:t>Computational</a:t>
            </a:r>
            <a:r>
              <a:rPr lang="es-MX" sz="900" i="1" dirty="0"/>
              <a:t> </a:t>
            </a:r>
            <a:r>
              <a:rPr lang="es-MX" sz="900" i="1" dirty="0" err="1"/>
              <a:t>Design</a:t>
            </a:r>
            <a:r>
              <a:rPr lang="es-MX" sz="900" i="1" dirty="0"/>
              <a:t> and Engineering</a:t>
            </a:r>
            <a:r>
              <a:rPr lang="es-MX" sz="900" dirty="0"/>
              <a:t>, vol. 9, no. 2, pp. 343–363, Mar. 2022, </a:t>
            </a:r>
            <a:r>
              <a:rPr lang="es-MX" sz="900" dirty="0" err="1"/>
              <a:t>doi</a:t>
            </a:r>
            <a:r>
              <a:rPr lang="es-MX" sz="900" dirty="0"/>
              <a:t>: 10.1093/</a:t>
            </a:r>
            <a:r>
              <a:rPr lang="es-MX" sz="900" dirty="0" err="1"/>
              <a:t>jcde</a:t>
            </a:r>
            <a:r>
              <a:rPr lang="es-MX" sz="900" dirty="0"/>
              <a:t>/qwac004.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6788755D-167B-D817-9199-0D4F5B8D3D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94" t="2399" b="2399"/>
          <a:stretch>
            <a:fillRect/>
          </a:stretch>
        </p:blipFill>
        <p:spPr>
          <a:xfrm>
            <a:off x="265401" y="4092502"/>
            <a:ext cx="3733047" cy="1366815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1868BD8A-14C4-9FF4-9906-B206DD6F80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720" y="1198786"/>
            <a:ext cx="8289787" cy="1156043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93CB9342-3FDC-6208-B1E0-37F8DEE8CE94}"/>
              </a:ext>
            </a:extLst>
          </p:cNvPr>
          <p:cNvSpPr txBox="1"/>
          <p:nvPr/>
        </p:nvSpPr>
        <p:spPr>
          <a:xfrm>
            <a:off x="187720" y="2474207"/>
            <a:ext cx="8289787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MX" sz="1200" dirty="0"/>
              <a:t>Las imágenes se redimensionaron a </a:t>
            </a:r>
            <a:r>
              <a:rPr lang="es-MX" sz="1200" b="1" dirty="0"/>
              <a:t>256 × 256</a:t>
            </a:r>
            <a:r>
              <a:rPr lang="es-MX" sz="1200" dirty="0"/>
              <a:t> píxeles y se almacenaron en formato </a:t>
            </a:r>
            <a:r>
              <a:rPr lang="es-MX" sz="1200" b="1" dirty="0"/>
              <a:t>PNG</a:t>
            </a:r>
            <a:r>
              <a:rPr lang="es-MX" sz="1200" dirty="0"/>
              <a:t>. El conjunto de datos se dividió en entrenamiento (</a:t>
            </a:r>
            <a:r>
              <a:rPr lang="es-MX" sz="1200" b="1" dirty="0"/>
              <a:t>3642</a:t>
            </a:r>
            <a:r>
              <a:rPr lang="es-MX" sz="1200" dirty="0"/>
              <a:t>), validación (</a:t>
            </a:r>
            <a:r>
              <a:rPr lang="es-MX" sz="1200" b="1" dirty="0"/>
              <a:t>455</a:t>
            </a:r>
            <a:r>
              <a:rPr lang="es-MX" sz="1200" dirty="0"/>
              <a:t>) y prueba (</a:t>
            </a:r>
            <a:r>
              <a:rPr lang="es-MX" sz="1200" b="1" dirty="0"/>
              <a:t>455</a:t>
            </a:r>
            <a:r>
              <a:rPr lang="es-MX" sz="1200" dirty="0"/>
              <a:t>), preservando la distribución de clases.</a:t>
            </a:r>
          </a:p>
        </p:txBody>
      </p:sp>
      <p:sp>
        <p:nvSpPr>
          <p:cNvPr id="39" name="Abrir llave 38">
            <a:extLst>
              <a:ext uri="{FF2B5EF4-FFF2-40B4-BE49-F238E27FC236}">
                <a16:creationId xmlns:a16="http://schemas.microsoft.com/office/drawing/2014/main" id="{033E5321-03A3-0A0B-34DD-FCA5241B55B3}"/>
              </a:ext>
            </a:extLst>
          </p:cNvPr>
          <p:cNvSpPr/>
          <p:nvPr/>
        </p:nvSpPr>
        <p:spPr>
          <a:xfrm>
            <a:off x="9351518" y="1334980"/>
            <a:ext cx="295114" cy="1370059"/>
          </a:xfrm>
          <a:prstGeom prst="leftBrace">
            <a:avLst>
              <a:gd name="adj1" fmla="val 38076"/>
              <a:gd name="adj2" fmla="val 42822"/>
            </a:avLst>
          </a:prstGeom>
          <a:ln w="762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4250969-D5EF-E3AE-5B69-C677F4A69EB7}"/>
              </a:ext>
            </a:extLst>
          </p:cNvPr>
          <p:cNvSpPr txBox="1"/>
          <p:nvPr/>
        </p:nvSpPr>
        <p:spPr>
          <a:xfrm>
            <a:off x="8477507" y="1757378"/>
            <a:ext cx="950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/>
              <a:t>FASES</a:t>
            </a:r>
            <a:endParaRPr lang="es-MX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59776AE-4141-E709-5005-9BC574AA4025}"/>
              </a:ext>
            </a:extLst>
          </p:cNvPr>
          <p:cNvSpPr txBox="1"/>
          <p:nvPr/>
        </p:nvSpPr>
        <p:spPr>
          <a:xfrm>
            <a:off x="9646632" y="1261600"/>
            <a:ext cx="23891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dirty="0"/>
              <a:t>FASE 1</a:t>
            </a:r>
            <a:r>
              <a:rPr lang="es-MX" sz="1100" dirty="0"/>
              <a:t>: EVALUACIÓN MODELO NORMAL.</a:t>
            </a:r>
          </a:p>
          <a:p>
            <a:endParaRPr lang="es-MX" sz="1100" dirty="0"/>
          </a:p>
          <a:p>
            <a:r>
              <a:rPr lang="es-MX" sz="1100" b="1" dirty="0"/>
              <a:t>FASE 2</a:t>
            </a:r>
            <a:r>
              <a:rPr lang="es-MX" sz="1100" dirty="0"/>
              <a:t>: CONGELAR EXTRACTOR Y EXTRAER EMBEDDINGS z15.</a:t>
            </a:r>
          </a:p>
          <a:p>
            <a:endParaRPr lang="es-MX" sz="1100" dirty="0"/>
          </a:p>
          <a:p>
            <a:r>
              <a:rPr lang="es-ES" sz="1100" b="1" dirty="0"/>
              <a:t>FASE 3</a:t>
            </a:r>
            <a:r>
              <a:rPr lang="es-ES" sz="1100" dirty="0"/>
              <a:t>: CLASIFICADOR AUXILIAR COMÚN SVM.</a:t>
            </a:r>
            <a:endParaRPr lang="es-MX" sz="1100" dirty="0"/>
          </a:p>
        </p:txBody>
      </p:sp>
    </p:spTree>
    <p:extLst>
      <p:ext uri="{BB962C8B-B14F-4D97-AF65-F5344CB8AC3E}">
        <p14:creationId xmlns:p14="http://schemas.microsoft.com/office/powerpoint/2010/main" val="336237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F192-195B-C9E3-0507-689310813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025DD16-CB1C-322D-8E9D-9F967CD4F723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11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85D18903-4CA2-FB6B-B2A3-08861865182E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1EEDAB49-3677-CBBA-FB0D-B762CA6D4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1D454A70-5A4B-DA9E-1A99-8A9158AE46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257CE6F-BDEF-49E2-4BD5-A156AF813817}"/>
              </a:ext>
            </a:extLst>
          </p:cNvPr>
          <p:cNvSpPr txBox="1"/>
          <p:nvPr/>
        </p:nvSpPr>
        <p:spPr>
          <a:xfrm>
            <a:off x="449099" y="720000"/>
            <a:ext cx="6099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Quanvolution</a:t>
            </a:r>
            <a:endParaRPr lang="es-MX" sz="10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0AA008E-4479-03A0-59EC-45B9F2036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98" y="2627840"/>
            <a:ext cx="5593651" cy="352982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2FC9E77-B6B8-ECA3-6543-DE1D6EEE7A99}"/>
              </a:ext>
            </a:extLst>
          </p:cNvPr>
          <p:cNvSpPr txBox="1"/>
          <p:nvPr/>
        </p:nvSpPr>
        <p:spPr>
          <a:xfrm>
            <a:off x="342973" y="1281169"/>
            <a:ext cx="57530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extracción de características se realiza mediante </a:t>
            </a:r>
            <a:r>
              <a:rPr lang="es-E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quanvolution</a:t>
            </a:r>
            <a:r>
              <a: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la imagen se divide en parches de 2×2 con </a:t>
            </a:r>
            <a:r>
              <a:rPr lang="es-E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stride</a:t>
            </a:r>
            <a:r>
              <a: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que son procesados de forma independiente, generando mapas de características que preservan la estructura espacial y sirven como entrada para las etapas posteriores de la red.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B514CB3-865B-4B2C-8FD3-9BBC304B8926}"/>
              </a:ext>
            </a:extLst>
          </p:cNvPr>
          <p:cNvSpPr/>
          <p:nvPr/>
        </p:nvSpPr>
        <p:spPr>
          <a:xfrm>
            <a:off x="6269153" y="1066100"/>
            <a:ext cx="108000" cy="522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10AFF69-4075-0CFA-158D-76986409AAE1}"/>
              </a:ext>
            </a:extLst>
          </p:cNvPr>
          <p:cNvSpPr txBox="1"/>
          <p:nvPr/>
        </p:nvSpPr>
        <p:spPr>
          <a:xfrm>
            <a:off x="6548957" y="1066100"/>
            <a:ext cx="51939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Cada parche se procesa con un </a:t>
            </a:r>
            <a:r>
              <a:rPr lang="es-E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circuito cuántico parametrizado </a:t>
            </a:r>
            <a:r>
              <a: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4 qubits con codificación, rotaciones y entrelazamiento.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87EBA704-7F7B-4CCE-9F32-05CB6B1F7C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932" y="1865944"/>
            <a:ext cx="4427596" cy="1885354"/>
          </a:xfrm>
          <a:prstGeom prst="rect">
            <a:avLst/>
          </a:prstGeom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BCEC45FE-B517-31B4-7CFD-B53B72B42E82}"/>
              </a:ext>
            </a:extLst>
          </p:cNvPr>
          <p:cNvSpPr/>
          <p:nvPr/>
        </p:nvSpPr>
        <p:spPr>
          <a:xfrm>
            <a:off x="6777456" y="1756346"/>
            <a:ext cx="1535963" cy="255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B4E78222-6366-55A6-6E03-8954930936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78" t="4385" r="621" b="1905"/>
          <a:stretch>
            <a:fillRect/>
          </a:stretch>
        </p:blipFill>
        <p:spPr>
          <a:xfrm>
            <a:off x="6976373" y="4019477"/>
            <a:ext cx="4631907" cy="184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91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B373-B3C4-BB34-0F71-B2D33550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442EEEEE-56F4-7810-4E55-E1BA49C92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185258"/>
              </p:ext>
            </p:extLst>
          </p:nvPr>
        </p:nvGraphicFramePr>
        <p:xfrm>
          <a:off x="449098" y="1071931"/>
          <a:ext cx="6211694" cy="54275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5847">
                  <a:extLst>
                    <a:ext uri="{9D8B030D-6E8A-4147-A177-3AD203B41FA5}">
                      <a16:colId xmlns:a16="http://schemas.microsoft.com/office/drawing/2014/main" val="1661029714"/>
                    </a:ext>
                  </a:extLst>
                </a:gridCol>
                <a:gridCol w="3105847">
                  <a:extLst>
                    <a:ext uri="{9D8B030D-6E8A-4147-A177-3AD203B41FA5}">
                      <a16:colId xmlns:a16="http://schemas.microsoft.com/office/drawing/2014/main" val="2331897913"/>
                    </a:ext>
                  </a:extLst>
                </a:gridCol>
              </a:tblGrid>
              <a:tr h="1809181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961396"/>
                  </a:ext>
                </a:extLst>
              </a:tr>
              <a:tr h="1809181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628465"/>
                  </a:ext>
                </a:extLst>
              </a:tr>
              <a:tr h="1809181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263096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678AF17-C0A4-18E3-062B-C157F11B89FB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12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083E7B64-7B50-F383-7E77-29A750104585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7F6FA968-B361-4A1A-F42A-D9538F4D2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9FF44116-6DB6-DCDF-D160-6D9B77EBBE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0A783F29-47B6-7B62-B11A-4FF1C8ECED51}"/>
              </a:ext>
            </a:extLst>
          </p:cNvPr>
          <p:cNvSpPr txBox="1"/>
          <p:nvPr/>
        </p:nvSpPr>
        <p:spPr>
          <a:xfrm>
            <a:off x="6442831" y="4785826"/>
            <a:ext cx="5369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</a:rPr>
              <a:t>Aprendizaje de Representaciones Latentes en imágenes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33F940D-6B0B-4838-41C4-D46A634C6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557056"/>
              </p:ext>
            </p:extLst>
          </p:nvPr>
        </p:nvGraphicFramePr>
        <p:xfrm>
          <a:off x="7114901" y="1200245"/>
          <a:ext cx="5078490" cy="3931920"/>
        </p:xfrm>
        <a:graphic>
          <a:graphicData uri="http://schemas.openxmlformats.org/drawingml/2006/table">
            <a:tbl>
              <a:tblPr/>
              <a:tblGrid>
                <a:gridCol w="1682750">
                  <a:extLst>
                    <a:ext uri="{9D8B030D-6E8A-4147-A177-3AD203B41FA5}">
                      <a16:colId xmlns:a16="http://schemas.microsoft.com/office/drawing/2014/main" val="1661655414"/>
                    </a:ext>
                  </a:extLst>
                </a:gridCol>
                <a:gridCol w="1424700">
                  <a:extLst>
                    <a:ext uri="{9D8B030D-6E8A-4147-A177-3AD203B41FA5}">
                      <a16:colId xmlns:a16="http://schemas.microsoft.com/office/drawing/2014/main" val="204050633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62285853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856993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Métrica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MS-HQCNN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HQCNN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CNN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823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Loss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0.0771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0.1024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0.0398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907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AUC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0.9974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0.9984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0.9993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41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PR-AUC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0.9933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0.9964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0.9980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350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Accuracy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97.37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98.68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99.34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534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Balanced Accuracy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96.98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98.61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99.07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788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F1-score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95.35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97.67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98.82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087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Precision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94.62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96.92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99.21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327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Sensitivity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96.09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98.44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98.44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663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Specificity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97.87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98.78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99.70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319121"/>
                  </a:ext>
                </a:extLst>
              </a:tr>
            </a:tbl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DAFF4E38-03B8-EF6A-F9E9-02C059D37584}"/>
              </a:ext>
            </a:extLst>
          </p:cNvPr>
          <p:cNvSpPr/>
          <p:nvPr/>
        </p:nvSpPr>
        <p:spPr>
          <a:xfrm>
            <a:off x="6878753" y="1001880"/>
            <a:ext cx="108000" cy="522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448257-245A-A3CC-184D-78F86D9C5323}"/>
              </a:ext>
            </a:extLst>
          </p:cNvPr>
          <p:cNvSpPr txBox="1"/>
          <p:nvPr/>
        </p:nvSpPr>
        <p:spPr>
          <a:xfrm>
            <a:off x="3394831" y="50129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highlight>
                  <a:srgbClr val="00FFFF"/>
                </a:highlight>
              </a:rPr>
              <a:t>FASE 1</a:t>
            </a:r>
            <a:r>
              <a:rPr lang="es-MX" sz="1600" dirty="0">
                <a:highlight>
                  <a:srgbClr val="00FFFF"/>
                </a:highlight>
              </a:rPr>
              <a:t>: EVALUACIÓN MODELO NORMAL.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5F0BA0-33EF-526C-0889-A006595AF93E}"/>
              </a:ext>
            </a:extLst>
          </p:cNvPr>
          <p:cNvSpPr txBox="1"/>
          <p:nvPr/>
        </p:nvSpPr>
        <p:spPr>
          <a:xfrm rot="16200000">
            <a:off x="-467089" y="1605790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MS-HQCNN</a:t>
            </a:r>
            <a:endParaRPr lang="es-MX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F1F991-D6A7-8B73-91AC-45A9911BAC89}"/>
              </a:ext>
            </a:extLst>
          </p:cNvPr>
          <p:cNvSpPr txBox="1"/>
          <p:nvPr/>
        </p:nvSpPr>
        <p:spPr>
          <a:xfrm rot="16200000">
            <a:off x="-500384" y="3427214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HQCNN</a:t>
            </a:r>
            <a:endParaRPr lang="es-MX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9F1F621-CC7B-B37C-E960-0AEDB2FDD7EB}"/>
              </a:ext>
            </a:extLst>
          </p:cNvPr>
          <p:cNvSpPr txBox="1"/>
          <p:nvPr/>
        </p:nvSpPr>
        <p:spPr>
          <a:xfrm rot="16200000">
            <a:off x="-477126" y="5425758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CNN</a:t>
            </a:r>
            <a:endParaRPr lang="es-MX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2794829-55A9-9842-CEF9-7D69C54AC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54" y="1092789"/>
            <a:ext cx="2448000" cy="1738434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892F6881-F351-8B88-01F1-16431F76B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591" y="1111445"/>
            <a:ext cx="2448000" cy="173843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F61364BB-041E-33AD-5C54-9E460F1E2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754" y="2904488"/>
            <a:ext cx="2448000" cy="1738435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CDEE1294-8464-98CB-2AFE-660A994F23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2591" y="2916484"/>
            <a:ext cx="2448000" cy="173843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B8507E8B-D687-81E7-3637-B0BA580B7B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754" y="4741206"/>
            <a:ext cx="2448000" cy="1738435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A21419CB-F678-7323-F4E2-674FEDBE7F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2591" y="4721523"/>
            <a:ext cx="2448000" cy="173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42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EF952-189C-39FF-7FE7-0FFA7895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8E743373-3CAA-D75D-3BE8-10504B040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357989"/>
              </p:ext>
            </p:extLst>
          </p:nvPr>
        </p:nvGraphicFramePr>
        <p:xfrm>
          <a:off x="449098" y="945481"/>
          <a:ext cx="6211694" cy="56889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0565">
                  <a:extLst>
                    <a:ext uri="{9D8B030D-6E8A-4147-A177-3AD203B41FA5}">
                      <a16:colId xmlns:a16="http://schemas.microsoft.com/office/drawing/2014/main" val="1661029714"/>
                    </a:ext>
                  </a:extLst>
                </a:gridCol>
                <a:gridCol w="2070564">
                  <a:extLst>
                    <a:ext uri="{9D8B030D-6E8A-4147-A177-3AD203B41FA5}">
                      <a16:colId xmlns:a16="http://schemas.microsoft.com/office/drawing/2014/main" val="2637304062"/>
                    </a:ext>
                  </a:extLst>
                </a:gridCol>
                <a:gridCol w="2070565">
                  <a:extLst>
                    <a:ext uri="{9D8B030D-6E8A-4147-A177-3AD203B41FA5}">
                      <a16:colId xmlns:a16="http://schemas.microsoft.com/office/drawing/2014/main" val="1509511084"/>
                    </a:ext>
                  </a:extLst>
                </a:gridCol>
              </a:tblGrid>
              <a:tr h="189633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961396"/>
                  </a:ext>
                </a:extLst>
              </a:tr>
              <a:tr h="189633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56750"/>
                  </a:ext>
                </a:extLst>
              </a:tr>
              <a:tr h="189633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07607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080A9D9-38E1-3010-4E87-07C5E54FDB18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13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5C4D529A-5DA9-6D48-627F-EA670395E03C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770A5ADC-3D35-7896-CE0E-B8BD6FF1C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8D2F4936-7ECA-9E7A-00DC-DB254013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5673765-88AF-1DDD-5EA5-CC94B16CE614}"/>
              </a:ext>
            </a:extLst>
          </p:cNvPr>
          <p:cNvSpPr txBox="1"/>
          <p:nvPr/>
        </p:nvSpPr>
        <p:spPr>
          <a:xfrm>
            <a:off x="6442831" y="4785826"/>
            <a:ext cx="5369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</a:rPr>
              <a:t>Aprendizaje de Representaciones Latentes en imágenes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D74B03F-EBDF-5311-0AB9-FBDF03CC2A1B}"/>
              </a:ext>
            </a:extLst>
          </p:cNvPr>
          <p:cNvSpPr/>
          <p:nvPr/>
        </p:nvSpPr>
        <p:spPr>
          <a:xfrm>
            <a:off x="6878753" y="1001880"/>
            <a:ext cx="108000" cy="522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33F9DF4-0124-8C22-61F6-7757D198566A}"/>
              </a:ext>
            </a:extLst>
          </p:cNvPr>
          <p:cNvSpPr txBox="1"/>
          <p:nvPr/>
        </p:nvSpPr>
        <p:spPr>
          <a:xfrm>
            <a:off x="-473495" y="551656"/>
            <a:ext cx="8056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highlight>
                  <a:srgbClr val="00FFFF"/>
                </a:highlight>
              </a:rPr>
              <a:t>FASE 2</a:t>
            </a:r>
            <a:r>
              <a:rPr lang="es-MX" sz="1600" dirty="0">
                <a:highlight>
                  <a:srgbClr val="00FFFF"/>
                </a:highlight>
              </a:rPr>
              <a:t>: CONGELAR EXTRACTOR Y EXTRAER EMBEDDINGS z15.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CD30140-3D91-E3F6-15A6-608DC3D8CEE1}"/>
              </a:ext>
            </a:extLst>
          </p:cNvPr>
          <p:cNvSpPr txBox="1"/>
          <p:nvPr/>
        </p:nvSpPr>
        <p:spPr>
          <a:xfrm rot="16200000">
            <a:off x="-467089" y="1605790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MS-HQCNN</a:t>
            </a:r>
            <a:endParaRPr lang="es-MX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2476826-F7E6-AEB5-7DA2-7AC0327A80E7}"/>
              </a:ext>
            </a:extLst>
          </p:cNvPr>
          <p:cNvSpPr txBox="1"/>
          <p:nvPr/>
        </p:nvSpPr>
        <p:spPr>
          <a:xfrm rot="16200000">
            <a:off x="-500384" y="3427214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HQCNN</a:t>
            </a:r>
            <a:endParaRPr lang="es-MX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9BF7D7D-BEC3-34AF-7D7C-25AFDDAED890}"/>
              </a:ext>
            </a:extLst>
          </p:cNvPr>
          <p:cNvSpPr txBox="1"/>
          <p:nvPr/>
        </p:nvSpPr>
        <p:spPr>
          <a:xfrm rot="16200000">
            <a:off x="-477126" y="5425758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CNN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5C4F351-24DA-E4AE-15D4-1C55E969D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89588"/>
              </p:ext>
            </p:extLst>
          </p:nvPr>
        </p:nvGraphicFramePr>
        <p:xfrm>
          <a:off x="7113510" y="925925"/>
          <a:ext cx="5117027" cy="4206240"/>
        </p:xfrm>
        <a:graphic>
          <a:graphicData uri="http://schemas.openxmlformats.org/drawingml/2006/table">
            <a:tbl>
              <a:tblPr/>
              <a:tblGrid>
                <a:gridCol w="1682237">
                  <a:extLst>
                    <a:ext uri="{9D8B030D-6E8A-4147-A177-3AD203B41FA5}">
                      <a16:colId xmlns:a16="http://schemas.microsoft.com/office/drawing/2014/main" val="4167246986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234806152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1122680245"/>
                    </a:ext>
                  </a:extLst>
                </a:gridCol>
                <a:gridCol w="915110">
                  <a:extLst>
                    <a:ext uri="{9D8B030D-6E8A-4147-A177-3AD203B41FA5}">
                      <a16:colId xmlns:a16="http://schemas.microsoft.com/office/drawing/2014/main" val="13834397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 dirty="0"/>
                        <a:t>Métrica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MS-HQCNN + SVM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HQCNN + SVM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CNN + SVM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76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Loss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16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AUC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0.9936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0.9903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0.9972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568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PR-AUC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0.9771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0.9840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0.9845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574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Accuracy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98.03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99.12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99.34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89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Balanced Accuracy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97.44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98.91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99.07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837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F1-score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96.47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98.44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98.82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0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Precision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96.85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98.44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99.21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677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Sensitivity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96.09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98.44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98.44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745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b="1"/>
                        <a:t>Specificity (%)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98.78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99.39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99.70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470497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4B1A01BF-C468-9EC5-A4E2-2669D9BC476F}"/>
              </a:ext>
            </a:extLst>
          </p:cNvPr>
          <p:cNvSpPr txBox="1"/>
          <p:nvPr/>
        </p:nvSpPr>
        <p:spPr>
          <a:xfrm>
            <a:off x="6660792" y="574903"/>
            <a:ext cx="5567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highlight>
                  <a:srgbClr val="00FFFF"/>
                </a:highlight>
              </a:rPr>
              <a:t>FASE 3</a:t>
            </a:r>
            <a:r>
              <a:rPr lang="es-ES" sz="1600" dirty="0">
                <a:highlight>
                  <a:srgbClr val="00FFFF"/>
                </a:highlight>
              </a:rPr>
              <a:t>: CLASIFICADOR AUXILIAR COMÚN SVM.</a:t>
            </a:r>
            <a:endParaRPr lang="es-MX" sz="1600" dirty="0">
              <a:highlight>
                <a:srgbClr val="00FFFF"/>
              </a:highlight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475C49A-D200-B57D-FA76-B5F469FCD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77" y="2933144"/>
            <a:ext cx="2017952" cy="1728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A2B130D-E1C2-3437-8DB2-45816EF0E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77" y="1058936"/>
            <a:ext cx="1973840" cy="1476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34564D8-F309-C91A-99D6-95CB9F0DE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49" y="4872416"/>
            <a:ext cx="1936677" cy="1656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CFA963B-F3BA-42B9-5E25-FE74050729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85" y="1058936"/>
            <a:ext cx="1950429" cy="1476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740299F-6673-6FDC-C8C8-1F6F5B497E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453" y="1094936"/>
            <a:ext cx="1885900" cy="14400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B80830C6-3A46-C915-E7EC-7C425DA7B7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293" y="3227690"/>
            <a:ext cx="1943701" cy="1116000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71124BFB-1BB5-55C0-BE5D-99183A5617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828" y="2903400"/>
            <a:ext cx="1870525" cy="16076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742E9EDB-9678-5EDA-B0C0-BE547B8298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649" y="4875741"/>
            <a:ext cx="1870525" cy="160732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F84CBBD7-B0D8-D82A-9004-850D26CE23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083" y="4895324"/>
            <a:ext cx="1872680" cy="144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81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010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2F720-2FBE-B068-B346-80D38E89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: biselado 20">
            <a:extLst>
              <a:ext uri="{FF2B5EF4-FFF2-40B4-BE49-F238E27FC236}">
                <a16:creationId xmlns:a16="http://schemas.microsoft.com/office/drawing/2014/main" id="{D14435F6-92D4-748B-BB08-D444043958DA}"/>
              </a:ext>
            </a:extLst>
          </p:cNvPr>
          <p:cNvSpPr>
            <a:spLocks noChangeAspect="1"/>
          </p:cNvSpPr>
          <p:nvPr/>
        </p:nvSpPr>
        <p:spPr>
          <a:xfrm rot="19203730">
            <a:off x="1778914" y="6233043"/>
            <a:ext cx="727395" cy="727395"/>
          </a:xfrm>
          <a:prstGeom prst="bevel">
            <a:avLst>
              <a:gd name="adj" fmla="val 17655"/>
            </a:avLst>
          </a:prstGeom>
          <a:solidFill>
            <a:srgbClr val="BB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: biselado 22">
            <a:extLst>
              <a:ext uri="{FF2B5EF4-FFF2-40B4-BE49-F238E27FC236}">
                <a16:creationId xmlns:a16="http://schemas.microsoft.com/office/drawing/2014/main" id="{0258F7DA-B4B2-241A-439A-1BB7A2C46335}"/>
              </a:ext>
            </a:extLst>
          </p:cNvPr>
          <p:cNvSpPr>
            <a:spLocks noChangeAspect="1"/>
          </p:cNvSpPr>
          <p:nvPr/>
        </p:nvSpPr>
        <p:spPr>
          <a:xfrm rot="20522095">
            <a:off x="6627056" y="5302028"/>
            <a:ext cx="1242502" cy="1242502"/>
          </a:xfrm>
          <a:prstGeom prst="bevel">
            <a:avLst>
              <a:gd name="adj" fmla="val 17655"/>
            </a:avLst>
          </a:prstGeom>
          <a:solidFill>
            <a:srgbClr val="BB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: biselado 24">
            <a:extLst>
              <a:ext uri="{FF2B5EF4-FFF2-40B4-BE49-F238E27FC236}">
                <a16:creationId xmlns:a16="http://schemas.microsoft.com/office/drawing/2014/main" id="{B83BD6A9-1456-BC99-267C-C2C5263CCC01}"/>
              </a:ext>
            </a:extLst>
          </p:cNvPr>
          <p:cNvSpPr>
            <a:spLocks noChangeAspect="1"/>
          </p:cNvSpPr>
          <p:nvPr/>
        </p:nvSpPr>
        <p:spPr>
          <a:xfrm rot="21354980">
            <a:off x="5053660" y="994899"/>
            <a:ext cx="1242502" cy="1242502"/>
          </a:xfrm>
          <a:prstGeom prst="bevel">
            <a:avLst>
              <a:gd name="adj" fmla="val 17655"/>
            </a:avLst>
          </a:prstGeom>
          <a:solidFill>
            <a:srgbClr val="BB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ángulo: biselado 26">
            <a:extLst>
              <a:ext uri="{FF2B5EF4-FFF2-40B4-BE49-F238E27FC236}">
                <a16:creationId xmlns:a16="http://schemas.microsoft.com/office/drawing/2014/main" id="{6A34BD68-C17C-0741-4CF0-85FCEC119B8C}"/>
              </a:ext>
            </a:extLst>
          </p:cNvPr>
          <p:cNvSpPr>
            <a:spLocks noChangeAspect="1"/>
          </p:cNvSpPr>
          <p:nvPr/>
        </p:nvSpPr>
        <p:spPr>
          <a:xfrm rot="1551404">
            <a:off x="9850204" y="1051184"/>
            <a:ext cx="582368" cy="582368"/>
          </a:xfrm>
          <a:prstGeom prst="bevel">
            <a:avLst>
              <a:gd name="adj" fmla="val 17655"/>
            </a:avLst>
          </a:prstGeom>
          <a:solidFill>
            <a:srgbClr val="BB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: biselado 28">
            <a:extLst>
              <a:ext uri="{FF2B5EF4-FFF2-40B4-BE49-F238E27FC236}">
                <a16:creationId xmlns:a16="http://schemas.microsoft.com/office/drawing/2014/main" id="{5F162483-E3FD-2F6C-9A67-3DEB32FC20EE}"/>
              </a:ext>
            </a:extLst>
          </p:cNvPr>
          <p:cNvSpPr>
            <a:spLocks noChangeAspect="1"/>
          </p:cNvSpPr>
          <p:nvPr/>
        </p:nvSpPr>
        <p:spPr>
          <a:xfrm rot="21245635">
            <a:off x="11210819" y="5911825"/>
            <a:ext cx="892282" cy="892282"/>
          </a:xfrm>
          <a:prstGeom prst="bevel">
            <a:avLst>
              <a:gd name="adj" fmla="val 17655"/>
            </a:avLst>
          </a:prstGeom>
          <a:solidFill>
            <a:srgbClr val="BB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: biselado 30">
            <a:extLst>
              <a:ext uri="{FF2B5EF4-FFF2-40B4-BE49-F238E27FC236}">
                <a16:creationId xmlns:a16="http://schemas.microsoft.com/office/drawing/2014/main" id="{5176054B-CF62-B079-F920-AF0702D2AA8B}"/>
              </a:ext>
            </a:extLst>
          </p:cNvPr>
          <p:cNvSpPr>
            <a:spLocks noChangeAspect="1"/>
          </p:cNvSpPr>
          <p:nvPr/>
        </p:nvSpPr>
        <p:spPr>
          <a:xfrm rot="20341349">
            <a:off x="11469540" y="1285252"/>
            <a:ext cx="892282" cy="892282"/>
          </a:xfrm>
          <a:prstGeom prst="bevel">
            <a:avLst>
              <a:gd name="adj" fmla="val 17655"/>
            </a:avLst>
          </a:prstGeom>
          <a:solidFill>
            <a:srgbClr val="BB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: biselado 18">
            <a:extLst>
              <a:ext uri="{FF2B5EF4-FFF2-40B4-BE49-F238E27FC236}">
                <a16:creationId xmlns:a16="http://schemas.microsoft.com/office/drawing/2014/main" id="{5DCF61F8-841D-DE8E-FEB5-FE0A8B6B2C60}"/>
              </a:ext>
            </a:extLst>
          </p:cNvPr>
          <p:cNvSpPr/>
          <p:nvPr/>
        </p:nvSpPr>
        <p:spPr>
          <a:xfrm rot="1247275">
            <a:off x="238008" y="1316311"/>
            <a:ext cx="1042416" cy="1042416"/>
          </a:xfrm>
          <a:prstGeom prst="bevel">
            <a:avLst>
              <a:gd name="adj" fmla="val 17655"/>
            </a:avLst>
          </a:prstGeom>
          <a:solidFill>
            <a:srgbClr val="BB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2C7D9D-0D4A-CF65-8D6C-BD78BA299D99}"/>
              </a:ext>
            </a:extLst>
          </p:cNvPr>
          <p:cNvSpPr/>
          <p:nvPr/>
        </p:nvSpPr>
        <p:spPr>
          <a:xfrm>
            <a:off x="0" y="0"/>
            <a:ext cx="12192000" cy="747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FBEC10-F476-1B29-7496-E2CBAA7D9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1" y="1999840"/>
            <a:ext cx="6731000" cy="3762320"/>
          </a:xfr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Contenido: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1.</a:t>
            </a:r>
          </a:p>
          <a:p>
            <a:r>
              <a:rPr lang="es-MX" b="1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2.</a:t>
            </a:r>
          </a:p>
          <a:p>
            <a:pPr marL="0" indent="0" algn="ctr">
              <a:buNone/>
            </a:pPr>
            <a:r>
              <a:rPr lang="es-E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Clasificación mediante NQK con reducción de dimensionalidad</a:t>
            </a:r>
            <a:endParaRPr lang="es-MX" sz="2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3.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4.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Futuras pruebas.</a:t>
            </a:r>
          </a:p>
          <a:p>
            <a:endParaRPr lang="es-MX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E6800E5-2902-2EC7-2B33-09D28394505D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Contenido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14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56DB2CFE-FC6C-B39E-8960-FE635CED3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0" name="Imagen 9" descr="EHU - YouTube">
            <a:extLst>
              <a:ext uri="{FF2B5EF4-FFF2-40B4-BE49-F238E27FC236}">
                <a16:creationId xmlns:a16="http://schemas.microsoft.com/office/drawing/2014/main" id="{FF8EF9D1-DED2-1634-90A2-F5E9AEEEE9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B757A74-95AB-2B95-703C-D206D5BB2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226" y="2481765"/>
            <a:ext cx="3756734" cy="279847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3395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64ECA-5823-061E-7620-9AE930B4A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C2A17D2-362E-90E7-A934-8BD18CBA7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235737"/>
              </p:ext>
            </p:extLst>
          </p:nvPr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15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7BDB20A8-9434-EF2B-8828-5DB7D414F2B4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rgbClr val="890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50280C90-C987-8E83-5DFD-CC454B119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2D5830DF-C566-5154-536A-10A6150730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E55A7EAC-0479-BD8F-E7F7-FDB8889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08" y="558000"/>
            <a:ext cx="10782783" cy="970688"/>
          </a:xfrm>
          <a:solidFill>
            <a:srgbClr val="FE4444"/>
          </a:solidFill>
        </p:spPr>
        <p:txBody>
          <a:bodyPr>
            <a:normAutofit/>
          </a:bodyPr>
          <a:lstStyle/>
          <a:p>
            <a:pPr algn="ctr"/>
            <a:r>
              <a:rPr lang="es-E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Clasificación mediante NQK con reducción de dimensionalidad</a:t>
            </a:r>
            <a:endParaRPr lang="es-MX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8D096C6-A92B-6B94-0BC1-3A33A2701EF8}"/>
              </a:ext>
            </a:extLst>
          </p:cNvPr>
          <p:cNvSpPr>
            <a:spLocks noChangeAspect="1"/>
          </p:cNvSpPr>
          <p:nvPr/>
        </p:nvSpPr>
        <p:spPr>
          <a:xfrm>
            <a:off x="335279" y="1722259"/>
            <a:ext cx="2444175" cy="2444175"/>
          </a:xfrm>
          <a:prstGeom prst="ellipse">
            <a:avLst/>
          </a:prstGeom>
          <a:solidFill>
            <a:schemeClr val="bg1"/>
          </a:solidFill>
          <a:ln w="76200"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D2C59AD-AC3E-FBC6-CE49-55C278B8F0EB}"/>
              </a:ext>
            </a:extLst>
          </p:cNvPr>
          <p:cNvSpPr>
            <a:spLocks noChangeAspect="1"/>
          </p:cNvSpPr>
          <p:nvPr/>
        </p:nvSpPr>
        <p:spPr>
          <a:xfrm>
            <a:off x="3409375" y="1691670"/>
            <a:ext cx="2444175" cy="2444175"/>
          </a:xfrm>
          <a:prstGeom prst="ellipse">
            <a:avLst/>
          </a:prstGeom>
          <a:solidFill>
            <a:schemeClr val="bg1"/>
          </a:solidFill>
          <a:ln w="76200"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4039ED8-C547-CF27-3278-E3B55D10AADD}"/>
              </a:ext>
            </a:extLst>
          </p:cNvPr>
          <p:cNvSpPr>
            <a:spLocks noChangeAspect="1"/>
          </p:cNvSpPr>
          <p:nvPr/>
        </p:nvSpPr>
        <p:spPr>
          <a:xfrm>
            <a:off x="6483471" y="1648319"/>
            <a:ext cx="2444175" cy="2444175"/>
          </a:xfrm>
          <a:prstGeom prst="ellipse">
            <a:avLst/>
          </a:prstGeom>
          <a:solidFill>
            <a:schemeClr val="bg1"/>
          </a:solidFill>
          <a:ln w="76200"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625075E-287E-DB0C-CB92-4782DF25701F}"/>
              </a:ext>
            </a:extLst>
          </p:cNvPr>
          <p:cNvSpPr txBox="1"/>
          <p:nvPr/>
        </p:nvSpPr>
        <p:spPr>
          <a:xfrm>
            <a:off x="0" y="3650500"/>
            <a:ext cx="3290452" cy="276999"/>
          </a:xfrm>
          <a:prstGeom prst="rect">
            <a:avLst/>
          </a:prstGeom>
          <a:solidFill>
            <a:schemeClr val="bg1"/>
          </a:solidFill>
          <a:ln w="38100">
            <a:solidFill>
              <a:srgbClr val="89010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 i="0" dirty="0">
                <a:effectLst/>
                <a:latin typeface="Mona Sans VF"/>
              </a:rPr>
              <a:t>Data </a:t>
            </a:r>
            <a:r>
              <a:rPr lang="es-MX" sz="1200" b="1" i="0" dirty="0" err="1">
                <a:effectLst/>
                <a:latin typeface="Mona Sans VF"/>
              </a:rPr>
              <a:t>Re-uploading</a:t>
            </a:r>
            <a:r>
              <a:rPr lang="es-MX" sz="1200" b="1" dirty="0">
                <a:latin typeface="Mona Sans VF"/>
              </a:rPr>
              <a:t> </a:t>
            </a:r>
            <a:r>
              <a:rPr lang="es-MX" sz="1200" b="1" i="0" dirty="0">
                <a:effectLst/>
                <a:latin typeface="Mona Sans VF"/>
              </a:rPr>
              <a:t>Quantum</a:t>
            </a:r>
            <a:r>
              <a:rPr lang="es-MX" sz="1200" b="1" dirty="0">
                <a:latin typeface="Mona Sans VF"/>
              </a:rPr>
              <a:t> </a:t>
            </a:r>
            <a:r>
              <a:rPr lang="es-MX" sz="1200" b="1" i="0" dirty="0">
                <a:effectLst/>
                <a:latin typeface="Mona Sans VF"/>
              </a:rPr>
              <a:t>Neural</a:t>
            </a:r>
            <a:r>
              <a:rPr lang="es-MX" sz="1200" b="1" dirty="0">
                <a:latin typeface="Mona Sans VF"/>
              </a:rPr>
              <a:t> </a:t>
            </a:r>
            <a:r>
              <a:rPr lang="es-MX" sz="1200" b="1" i="0" dirty="0">
                <a:effectLst/>
                <a:latin typeface="Mona Sans VF"/>
              </a:rPr>
              <a:t>Networks</a:t>
            </a:r>
            <a:endParaRPr lang="es-MX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B06BE9A-9BB5-C49F-36B8-AB77E4C30890}"/>
              </a:ext>
            </a:extLst>
          </p:cNvPr>
          <p:cNvSpPr txBox="1"/>
          <p:nvPr/>
        </p:nvSpPr>
        <p:spPr>
          <a:xfrm>
            <a:off x="-354906" y="4190728"/>
            <a:ext cx="3645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https://github.com/Bayan0708/Quantum-Neural-Networks/tree/main/Data_Re-uploading_Quantum_Neural_Networks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BD10F1B-4312-16C5-67EE-A28E1F05CA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71" y="2119700"/>
            <a:ext cx="1377795" cy="1309300"/>
          </a:xfrm>
          <a:prstGeom prst="rect">
            <a:avLst/>
          </a:prstGeom>
          <a:ln w="38100">
            <a:solidFill>
              <a:srgbClr val="890101"/>
            </a:solidFill>
          </a:ln>
        </p:spPr>
      </p:pic>
      <p:pic>
        <p:nvPicPr>
          <p:cNvPr id="31" name="Imagen 30" descr="Iris Dataset Classification with Python: A Tutorial - Quark Machine Learning">
            <a:extLst>
              <a:ext uri="{FF2B5EF4-FFF2-40B4-BE49-F238E27FC236}">
                <a16:creationId xmlns:a16="http://schemas.microsoft.com/office/drawing/2014/main" id="{19A4F20B-6E27-19A7-2130-00A726DF5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027" y="2224035"/>
            <a:ext cx="1386387" cy="1100629"/>
          </a:xfrm>
          <a:prstGeom prst="rect">
            <a:avLst/>
          </a:prstGeom>
          <a:ln w="38100">
            <a:solidFill>
              <a:srgbClr val="890101"/>
            </a:solidFill>
          </a:ln>
        </p:spPr>
      </p:pic>
      <p:sp>
        <p:nvSpPr>
          <p:cNvPr id="34" name="Flecha: doblada 33">
            <a:extLst>
              <a:ext uri="{FF2B5EF4-FFF2-40B4-BE49-F238E27FC236}">
                <a16:creationId xmlns:a16="http://schemas.microsoft.com/office/drawing/2014/main" id="{7E0F681D-AAEB-1AC1-0426-F283A378FE6E}"/>
              </a:ext>
            </a:extLst>
          </p:cNvPr>
          <p:cNvSpPr/>
          <p:nvPr/>
        </p:nvSpPr>
        <p:spPr>
          <a:xfrm rot="2622014">
            <a:off x="2729098" y="1560637"/>
            <a:ext cx="730631" cy="67959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82510"/>
            </a:avLst>
          </a:prstGeom>
          <a:solidFill>
            <a:srgbClr val="89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37" name="Flecha: doblada 36">
            <a:extLst>
              <a:ext uri="{FF2B5EF4-FFF2-40B4-BE49-F238E27FC236}">
                <a16:creationId xmlns:a16="http://schemas.microsoft.com/office/drawing/2014/main" id="{CE9C7543-B67A-AA82-80DC-1996A00B46A2}"/>
              </a:ext>
            </a:extLst>
          </p:cNvPr>
          <p:cNvSpPr/>
          <p:nvPr/>
        </p:nvSpPr>
        <p:spPr>
          <a:xfrm rot="2622014">
            <a:off x="5762617" y="1571310"/>
            <a:ext cx="730631" cy="67959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82510"/>
            </a:avLst>
          </a:prstGeom>
          <a:solidFill>
            <a:srgbClr val="89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74A66AF-A18C-CB79-FD77-52D0FA1F8B5F}"/>
              </a:ext>
            </a:extLst>
          </p:cNvPr>
          <p:cNvSpPr txBox="1"/>
          <p:nvPr/>
        </p:nvSpPr>
        <p:spPr>
          <a:xfrm>
            <a:off x="3371461" y="2085535"/>
            <a:ext cx="2520000" cy="276999"/>
          </a:xfrm>
          <a:prstGeom prst="rect">
            <a:avLst/>
          </a:prstGeom>
          <a:solidFill>
            <a:schemeClr val="bg1"/>
          </a:solidFill>
          <a:ln w="38100">
            <a:solidFill>
              <a:srgbClr val="89010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 dirty="0">
                <a:latin typeface="Mona Sans VF"/>
              </a:rPr>
              <a:t>Transformaciones </a:t>
            </a:r>
            <a:r>
              <a:rPr lang="es-MX" sz="1200" b="1" i="0" dirty="0">
                <a:effectLst/>
                <a:latin typeface="Mona Sans VF"/>
              </a:rPr>
              <a:t>DR QNN (Q1 a Q5)</a:t>
            </a:r>
            <a:endParaRPr lang="es-MX" dirty="0"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57E7B1E4-55D8-F0D4-975C-BB61E6B5B8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403" y="2531122"/>
            <a:ext cx="2322116" cy="1379797"/>
          </a:xfrm>
          <a:prstGeom prst="rect">
            <a:avLst/>
          </a:prstGeom>
          <a:ln w="38100">
            <a:solidFill>
              <a:srgbClr val="890101"/>
            </a:solidFill>
          </a:ln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DF254C27-0DED-4654-70EC-C6E0E4272DE4}"/>
              </a:ext>
            </a:extLst>
          </p:cNvPr>
          <p:cNvSpPr txBox="1"/>
          <p:nvPr/>
        </p:nvSpPr>
        <p:spPr>
          <a:xfrm>
            <a:off x="3436096" y="4139473"/>
            <a:ext cx="253464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https://github.com/Bayan0708/Quantum-Neural-Networks/tree/main/DR_QNN_Batched_Q1_to_Q5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78E45BA-88E1-AA9D-E705-CD474E86E38E}"/>
              </a:ext>
            </a:extLst>
          </p:cNvPr>
          <p:cNvSpPr txBox="1"/>
          <p:nvPr/>
        </p:nvSpPr>
        <p:spPr>
          <a:xfrm>
            <a:off x="6407646" y="3697459"/>
            <a:ext cx="2520000" cy="276999"/>
          </a:xfrm>
          <a:prstGeom prst="rect">
            <a:avLst/>
          </a:prstGeom>
          <a:solidFill>
            <a:schemeClr val="bg1"/>
          </a:solidFill>
          <a:ln w="38100">
            <a:solidFill>
              <a:srgbClr val="89010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 i="0" dirty="0">
                <a:effectLst/>
                <a:latin typeface="Mona Sans VF"/>
              </a:rPr>
              <a:t>CNN DR QNN (</a:t>
            </a:r>
            <a:r>
              <a:rPr lang="es-MX" sz="1200" b="1" dirty="0">
                <a:latin typeface="Mona Sans VF"/>
              </a:rPr>
              <a:t>SU(2) vs SU(4)</a:t>
            </a:r>
            <a:r>
              <a:rPr lang="es-MX" sz="1200" b="1" i="0" dirty="0">
                <a:effectLst/>
                <a:latin typeface="Mona Sans VF"/>
              </a:rPr>
              <a:t>)</a:t>
            </a:r>
            <a:endParaRPr lang="es-MX" dirty="0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308EA01E-742A-52E4-5B7F-B7981C739492}"/>
              </a:ext>
            </a:extLst>
          </p:cNvPr>
          <p:cNvGrpSpPr/>
          <p:nvPr/>
        </p:nvGrpSpPr>
        <p:grpSpPr>
          <a:xfrm>
            <a:off x="6438233" y="2119700"/>
            <a:ext cx="2534649" cy="1236899"/>
            <a:chOff x="1422581" y="4550083"/>
            <a:chExt cx="4673418" cy="2239279"/>
          </a:xfrm>
        </p:grpSpPr>
        <p:pic>
          <p:nvPicPr>
            <p:cNvPr id="48" name="Imagen 47">
              <a:extLst>
                <a:ext uri="{FF2B5EF4-FFF2-40B4-BE49-F238E27FC236}">
                  <a16:creationId xmlns:a16="http://schemas.microsoft.com/office/drawing/2014/main" id="{319C4CE0-D8DD-F1F4-F4D6-8B3C7325C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10864" r="50339"/>
            <a:stretch>
              <a:fillRect/>
            </a:stretch>
          </p:blipFill>
          <p:spPr>
            <a:xfrm>
              <a:off x="1422582" y="4550083"/>
              <a:ext cx="4673417" cy="1173880"/>
            </a:xfrm>
            <a:prstGeom prst="rect">
              <a:avLst/>
            </a:prstGeom>
            <a:ln w="38100">
              <a:solidFill>
                <a:srgbClr val="890101"/>
              </a:solidFill>
            </a:ln>
          </p:spPr>
        </p:pic>
        <p:pic>
          <p:nvPicPr>
            <p:cNvPr id="51" name="Imagen 50">
              <a:extLst>
                <a:ext uri="{FF2B5EF4-FFF2-40B4-BE49-F238E27FC236}">
                  <a16:creationId xmlns:a16="http://schemas.microsoft.com/office/drawing/2014/main" id="{A712DF04-CD56-5049-EAD1-77DF4B10F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0339" t="10864"/>
            <a:stretch>
              <a:fillRect/>
            </a:stretch>
          </p:blipFill>
          <p:spPr>
            <a:xfrm>
              <a:off x="1422581" y="5615482"/>
              <a:ext cx="4673418" cy="1173880"/>
            </a:xfrm>
            <a:prstGeom prst="rect">
              <a:avLst/>
            </a:prstGeom>
            <a:ln w="38100">
              <a:solidFill>
                <a:srgbClr val="890101"/>
              </a:solidFill>
            </a:ln>
          </p:spPr>
        </p:pic>
      </p:grpSp>
      <p:sp>
        <p:nvSpPr>
          <p:cNvPr id="56" name="Flecha: doblada 55">
            <a:extLst>
              <a:ext uri="{FF2B5EF4-FFF2-40B4-BE49-F238E27FC236}">
                <a16:creationId xmlns:a16="http://schemas.microsoft.com/office/drawing/2014/main" id="{4E4FA500-1197-15E5-9ADC-5D82E0F90A3C}"/>
              </a:ext>
            </a:extLst>
          </p:cNvPr>
          <p:cNvSpPr/>
          <p:nvPr/>
        </p:nvSpPr>
        <p:spPr>
          <a:xfrm rot="2622014">
            <a:off x="8806423" y="1506400"/>
            <a:ext cx="730631" cy="67959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82510"/>
            </a:avLst>
          </a:prstGeom>
          <a:solidFill>
            <a:srgbClr val="890101"/>
          </a:solidFill>
          <a:ln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88C61598-3734-2836-35EB-9F2D20A38A8F}"/>
              </a:ext>
            </a:extLst>
          </p:cNvPr>
          <p:cNvSpPr/>
          <p:nvPr/>
        </p:nvSpPr>
        <p:spPr>
          <a:xfrm>
            <a:off x="9213408" y="2204576"/>
            <a:ext cx="2790871" cy="4095424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E7F921D-0E1F-BE8B-4685-664D5D1F07AC}"/>
              </a:ext>
            </a:extLst>
          </p:cNvPr>
          <p:cNvSpPr txBox="1"/>
          <p:nvPr/>
        </p:nvSpPr>
        <p:spPr>
          <a:xfrm>
            <a:off x="6182011" y="4211529"/>
            <a:ext cx="27908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https://github.com/Bayan0708/Quantum-Neural-Networks/tree/main/Hybrid_Quantum_Deep_Learning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337E2E1-F511-2F78-3B9C-987597232A6D}"/>
              </a:ext>
            </a:extLst>
          </p:cNvPr>
          <p:cNvSpPr txBox="1"/>
          <p:nvPr/>
        </p:nvSpPr>
        <p:spPr>
          <a:xfrm>
            <a:off x="9341518" y="6357446"/>
            <a:ext cx="25346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dirty="0"/>
              <a:t>https://github.com/Bayan0708/Quantum-Neural-Networks/tree/main/Neural_Quantum_Kernels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F3F9E643-F14E-7FCF-3A19-B6B7248FA61F}"/>
              </a:ext>
            </a:extLst>
          </p:cNvPr>
          <p:cNvSpPr txBox="1"/>
          <p:nvPr/>
        </p:nvSpPr>
        <p:spPr>
          <a:xfrm>
            <a:off x="9348842" y="2039696"/>
            <a:ext cx="2520000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89010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NQK con transformaciones de reducción a 3F</a:t>
            </a:r>
            <a:endParaRPr lang="es-MX" sz="1600" dirty="0"/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CC3C1041-7DBE-755A-927B-76F89F4824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353" y="2792050"/>
            <a:ext cx="2554977" cy="1903256"/>
          </a:xfrm>
          <a:prstGeom prst="rect">
            <a:avLst/>
          </a:prstGeom>
          <a:ln w="38100">
            <a:solidFill>
              <a:srgbClr val="890101"/>
            </a:solidFill>
          </a:ln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4108CE6C-82F8-71DD-91EE-498B720A79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628" y="4947424"/>
            <a:ext cx="1750780" cy="1404049"/>
          </a:xfrm>
          <a:prstGeom prst="rect">
            <a:avLst/>
          </a:prstGeom>
          <a:ln w="38100">
            <a:solidFill>
              <a:srgbClr val="890101"/>
            </a:solidFill>
          </a:ln>
        </p:spPr>
      </p:pic>
      <p:sp>
        <p:nvSpPr>
          <p:cNvPr id="73" name="CuadroTexto 72">
            <a:extLst>
              <a:ext uri="{FF2B5EF4-FFF2-40B4-BE49-F238E27FC236}">
                <a16:creationId xmlns:a16="http://schemas.microsoft.com/office/drawing/2014/main" id="{B2C28417-1FC5-C185-583B-9E4E23337DAB}"/>
              </a:ext>
            </a:extLst>
          </p:cNvPr>
          <p:cNvSpPr txBox="1"/>
          <p:nvPr/>
        </p:nvSpPr>
        <p:spPr>
          <a:xfrm>
            <a:off x="10466489" y="4860186"/>
            <a:ext cx="153779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 dirty="0"/>
              <a:t>P. </a:t>
            </a:r>
            <a:r>
              <a:rPr lang="es-MX" sz="900" dirty="0" err="1"/>
              <a:t>Rodriguez</a:t>
            </a:r>
            <a:r>
              <a:rPr lang="es-MX" sz="900" dirty="0"/>
              <a:t>-Grasa, Y. Ban, and M. Sanz, "Neural quantum kernels: Training quantum kernels </a:t>
            </a:r>
            <a:r>
              <a:rPr lang="es-MX" sz="900" dirty="0" err="1"/>
              <a:t>with</a:t>
            </a:r>
            <a:r>
              <a:rPr lang="es-MX" sz="900" dirty="0"/>
              <a:t> quantum neural </a:t>
            </a:r>
            <a:r>
              <a:rPr lang="es-MX" sz="900" dirty="0" err="1"/>
              <a:t>networks</a:t>
            </a:r>
            <a:r>
              <a:rPr lang="es-MX" sz="900" dirty="0"/>
              <a:t>," </a:t>
            </a:r>
            <a:r>
              <a:rPr lang="es-MX" sz="900" i="1" dirty="0" err="1"/>
              <a:t>Physical</a:t>
            </a:r>
            <a:r>
              <a:rPr lang="es-MX" sz="900" i="1" dirty="0"/>
              <a:t> </a:t>
            </a:r>
            <a:r>
              <a:rPr lang="es-MX" sz="900" i="1" dirty="0" err="1"/>
              <a:t>Review</a:t>
            </a:r>
            <a:r>
              <a:rPr lang="es-MX" sz="900" i="1" dirty="0"/>
              <a:t> </a:t>
            </a:r>
            <a:r>
              <a:rPr lang="es-MX" sz="900" i="1" dirty="0" err="1"/>
              <a:t>Research</a:t>
            </a:r>
            <a:r>
              <a:rPr lang="es-MX" sz="900" dirty="0"/>
              <a:t>, vol. 7, no. 2, Art. no. 023269, Jun. 2025, </a:t>
            </a:r>
            <a:r>
              <a:rPr lang="es-MX" sz="900" dirty="0" err="1"/>
              <a:t>doi</a:t>
            </a:r>
            <a:r>
              <a:rPr lang="es-MX" sz="900" dirty="0"/>
              <a:t>: 10.1103/xphb-x2g4.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F55FA399-C71B-3635-CBF4-93508FD07DAA}"/>
              </a:ext>
            </a:extLst>
          </p:cNvPr>
          <p:cNvSpPr/>
          <p:nvPr/>
        </p:nvSpPr>
        <p:spPr>
          <a:xfrm>
            <a:off x="179571" y="4677442"/>
            <a:ext cx="8100000" cy="36000"/>
          </a:xfrm>
          <a:prstGeom prst="rect">
            <a:avLst/>
          </a:prstGeom>
          <a:solidFill>
            <a:srgbClr val="890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6033BB0-B0A8-2527-AA04-57620033348E}"/>
              </a:ext>
            </a:extLst>
          </p:cNvPr>
          <p:cNvSpPr txBox="1"/>
          <p:nvPr/>
        </p:nvSpPr>
        <p:spPr>
          <a:xfrm>
            <a:off x="99019" y="4761686"/>
            <a:ext cx="46044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highlight>
                  <a:srgbClr val="FE4444"/>
                </a:highlight>
              </a:rPr>
              <a:t>Obs: Solo se explica la cuarta etapa del avance.</a:t>
            </a:r>
          </a:p>
        </p:txBody>
      </p:sp>
      <p:pic>
        <p:nvPicPr>
          <p:cNvPr id="77" name="Marcador de contenido 13">
            <a:extLst>
              <a:ext uri="{FF2B5EF4-FFF2-40B4-BE49-F238E27FC236}">
                <a16:creationId xmlns:a16="http://schemas.microsoft.com/office/drawing/2014/main" id="{8F297CBA-8319-A1D9-288C-4BCC3878A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9" y="5252905"/>
            <a:ext cx="3772769" cy="1067984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EDA21C96-4D68-19A2-E1F8-3D8416E169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144" y="5716485"/>
            <a:ext cx="362811" cy="229533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D2276EEC-3881-E178-9DD7-04F83DF456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278" y="5295697"/>
            <a:ext cx="3527466" cy="1033298"/>
          </a:xfrm>
          <a:prstGeom prst="rect">
            <a:avLst/>
          </a:prstGeom>
        </p:spPr>
      </p:pic>
      <p:sp>
        <p:nvSpPr>
          <p:cNvPr id="82" name="Rectángulo 81">
            <a:extLst>
              <a:ext uri="{FF2B5EF4-FFF2-40B4-BE49-F238E27FC236}">
                <a16:creationId xmlns:a16="http://schemas.microsoft.com/office/drawing/2014/main" id="{A7D524A9-5227-3AE5-D967-DEE9D6E131AA}"/>
              </a:ext>
            </a:extLst>
          </p:cNvPr>
          <p:cNvSpPr/>
          <p:nvPr/>
        </p:nvSpPr>
        <p:spPr>
          <a:xfrm>
            <a:off x="4279355" y="2873304"/>
            <a:ext cx="432904" cy="407837"/>
          </a:xfrm>
          <a:prstGeom prst="rect">
            <a:avLst/>
          </a:prstGeom>
          <a:solidFill>
            <a:srgbClr val="FE4444"/>
          </a:solidFill>
          <a:ln w="38100">
            <a:solidFill>
              <a:srgbClr val="890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1636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3F90-0D7B-FFB2-B4B2-ED1C7AE5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83FD2094-A09F-77A0-A082-6094AC026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226215"/>
              </p:ext>
            </p:extLst>
          </p:nvPr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16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C9445663-7623-DFC7-ECA8-8666E24CA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5C18B349-4C81-5CF3-9D32-4D2A7F4D4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94CB68DF-7887-5C51-B19A-A0438DEE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885"/>
            <a:ext cx="10515600" cy="654475"/>
          </a:xfrm>
        </p:spPr>
        <p:txBody>
          <a:bodyPr>
            <a:normAutofit/>
          </a:bodyPr>
          <a:lstStyle/>
          <a:p>
            <a:pPr algn="ctr"/>
            <a:r>
              <a:rPr lang="es-ES" sz="3600" b="1" u="sng" dirty="0"/>
              <a:t>NQK con transformaciones de reducción a 3F</a:t>
            </a:r>
            <a:endParaRPr lang="es-MX" sz="3600" b="1" u="sng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13450F5-41BB-DE0F-82DA-AE30634C27F0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rgbClr val="890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ECB69CE-B974-3220-8FCB-D839B3DC9CA0}"/>
              </a:ext>
            </a:extLst>
          </p:cNvPr>
          <p:cNvSpPr txBox="1"/>
          <p:nvPr/>
        </p:nvSpPr>
        <p:spPr>
          <a:xfrm>
            <a:off x="187720" y="1031015"/>
            <a:ext cx="7203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b="1" dirty="0"/>
              <a:t>Resultados globales de todas las transformaciones (5 </a:t>
            </a:r>
            <a:r>
              <a:rPr lang="es-MX" sz="2000" b="1" dirty="0" err="1"/>
              <a:t>folds</a:t>
            </a:r>
            <a:r>
              <a:rPr lang="es-MX" sz="2000" b="1" dirty="0"/>
              <a:t>)</a:t>
            </a:r>
            <a:endParaRPr lang="es-MX" sz="20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46C37F80-FC99-D525-40B5-CC98EF8A7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865" y="1371379"/>
            <a:ext cx="10285645" cy="359275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4674903C-4BCB-77EB-6DD7-97E12E61B5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45" y="5071833"/>
            <a:ext cx="4594495" cy="141241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57195B45-CA58-7297-4FEA-C921C7F85B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682" y="4943171"/>
            <a:ext cx="3827352" cy="166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69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E318-9109-E84C-6C78-13B6A7F8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BA468BC-E834-C530-C2B1-36E069AA9F34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17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D5CBA01D-ACF8-8552-7E4B-6EE0A3520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0AE88A53-B48D-FDBC-2CD3-E7275DE66E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CC81929-EED6-9A76-D67A-C88C67FE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885"/>
            <a:ext cx="10515600" cy="654475"/>
          </a:xfrm>
        </p:spPr>
        <p:txBody>
          <a:bodyPr>
            <a:normAutofit/>
          </a:bodyPr>
          <a:lstStyle/>
          <a:p>
            <a:pPr algn="ctr"/>
            <a:r>
              <a:rPr lang="es-ES" sz="3600" b="1" u="sng" dirty="0"/>
              <a:t>NQK con transformaciones de reducción a 3F</a:t>
            </a:r>
            <a:endParaRPr lang="es-MX" sz="3600" b="1" u="sng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FC7763-B7DD-E65F-48AF-FBCCAAF44F55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rgbClr val="890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7E5EE4-6AD6-497E-F65A-EC9DDD1E32F2}"/>
              </a:ext>
            </a:extLst>
          </p:cNvPr>
          <p:cNvSpPr txBox="1"/>
          <p:nvPr/>
        </p:nvSpPr>
        <p:spPr>
          <a:xfrm>
            <a:off x="187720" y="1031015"/>
            <a:ext cx="7203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b="1" dirty="0"/>
              <a:t>Resultados globales de 3 métodos clásicos (5 </a:t>
            </a:r>
            <a:r>
              <a:rPr lang="es-MX" sz="2000" b="1" dirty="0" err="1"/>
              <a:t>folds</a:t>
            </a:r>
            <a:r>
              <a:rPr lang="es-MX" sz="2000" b="1" dirty="0"/>
              <a:t>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4B9290-A640-DA6C-999A-44DACB775E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99" y="5071833"/>
            <a:ext cx="4725599" cy="118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23233A7-61E4-CE5D-D92F-0607EF638F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99" y="1597529"/>
            <a:ext cx="11384734" cy="301889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ED4150D-9635-A22A-F45A-5C8AE995D5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304" y="4826948"/>
            <a:ext cx="3986755" cy="143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00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A7C7-1C22-0B94-77DF-CEF6C662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342B058-2DA9-3065-AA08-58A3A5E2F622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18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1048D89E-9397-E88E-FB2E-C199B9A8A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4EA96E8E-7D59-7F9B-A501-3B2571C0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4E4A6BA2-B280-9C68-AB5B-3B712C76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885"/>
            <a:ext cx="10515600" cy="654475"/>
          </a:xfrm>
        </p:spPr>
        <p:txBody>
          <a:bodyPr>
            <a:normAutofit/>
          </a:bodyPr>
          <a:lstStyle/>
          <a:p>
            <a:pPr algn="ctr"/>
            <a:r>
              <a:rPr lang="es-ES" sz="3600" b="1" u="sng" dirty="0"/>
              <a:t>NQK con transformaciones de reducción a 3F</a:t>
            </a:r>
            <a:endParaRPr lang="es-MX" sz="3600" b="1" u="sng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33902D-3E88-7369-B237-2D0168164C46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rgbClr val="890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87CDB6-F523-2D0A-9288-962735F1F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5" y="1131360"/>
            <a:ext cx="9208598" cy="543557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4EE38B4-EF97-43C8-04B6-76E42DD53C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138" y="1766123"/>
            <a:ext cx="2578142" cy="141282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5E5A78A-19B4-6787-0E33-531B12AF7354}"/>
              </a:ext>
            </a:extLst>
          </p:cNvPr>
          <p:cNvSpPr txBox="1"/>
          <p:nvPr/>
        </p:nvSpPr>
        <p:spPr>
          <a:xfrm>
            <a:off x="9426138" y="1431125"/>
            <a:ext cx="1927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1-to-n NQK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86DAF3B-D437-11F8-EA49-BD9CE095F62B}"/>
              </a:ext>
            </a:extLst>
          </p:cNvPr>
          <p:cNvSpPr txBox="1"/>
          <p:nvPr/>
        </p:nvSpPr>
        <p:spPr>
          <a:xfrm>
            <a:off x="9426138" y="3178945"/>
            <a:ext cx="25781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i="1" dirty="0" err="1"/>
              <a:t>Satellite</a:t>
            </a:r>
            <a:r>
              <a:rPr lang="es-MX" sz="1600" i="1" dirty="0"/>
              <a:t> </a:t>
            </a:r>
            <a:r>
              <a:rPr lang="es-MX" sz="1600" i="1" dirty="0" err="1"/>
              <a:t>image</a:t>
            </a:r>
            <a:r>
              <a:rPr lang="es-MX" sz="1600" i="1" dirty="0"/>
              <a:t> </a:t>
            </a:r>
            <a:r>
              <a:rPr lang="es-MX" sz="1600" i="1" dirty="0" err="1"/>
              <a:t>classification</a:t>
            </a:r>
            <a:r>
              <a:rPr lang="es-MX" sz="1600" i="1" dirty="0"/>
              <a:t> </a:t>
            </a:r>
            <a:r>
              <a:rPr lang="es-MX" sz="1600" i="1" dirty="0" err="1"/>
              <a:t>with</a:t>
            </a:r>
            <a:r>
              <a:rPr lang="es-MX" sz="1600" i="1" dirty="0"/>
              <a:t> neural quantum kernels </a:t>
            </a:r>
          </a:p>
        </p:txBody>
      </p:sp>
    </p:spTree>
    <p:extLst>
      <p:ext uri="{BB962C8B-B14F-4D97-AF65-F5344CB8AC3E}">
        <p14:creationId xmlns:p14="http://schemas.microsoft.com/office/powerpoint/2010/main" val="584712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30119-C2C1-947B-2491-C947A169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: biselado 20">
            <a:extLst>
              <a:ext uri="{FF2B5EF4-FFF2-40B4-BE49-F238E27FC236}">
                <a16:creationId xmlns:a16="http://schemas.microsoft.com/office/drawing/2014/main" id="{1A3487D2-C129-4147-69B5-1C30361202A8}"/>
              </a:ext>
            </a:extLst>
          </p:cNvPr>
          <p:cNvSpPr>
            <a:spLocks noChangeAspect="1"/>
          </p:cNvSpPr>
          <p:nvPr/>
        </p:nvSpPr>
        <p:spPr>
          <a:xfrm rot="19203730">
            <a:off x="1778914" y="6233043"/>
            <a:ext cx="727395" cy="727395"/>
          </a:xfrm>
          <a:prstGeom prst="bevel">
            <a:avLst>
              <a:gd name="adj" fmla="val 17655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: biselado 22">
            <a:extLst>
              <a:ext uri="{FF2B5EF4-FFF2-40B4-BE49-F238E27FC236}">
                <a16:creationId xmlns:a16="http://schemas.microsoft.com/office/drawing/2014/main" id="{06FDB577-CA70-D4F4-DBCB-ACA4D7B23EE1}"/>
              </a:ext>
            </a:extLst>
          </p:cNvPr>
          <p:cNvSpPr>
            <a:spLocks noChangeAspect="1"/>
          </p:cNvSpPr>
          <p:nvPr/>
        </p:nvSpPr>
        <p:spPr>
          <a:xfrm rot="20522095">
            <a:off x="6627056" y="5302028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: biselado 24">
            <a:extLst>
              <a:ext uri="{FF2B5EF4-FFF2-40B4-BE49-F238E27FC236}">
                <a16:creationId xmlns:a16="http://schemas.microsoft.com/office/drawing/2014/main" id="{5B7F298A-C712-026E-7B51-9D3B642DC1DF}"/>
              </a:ext>
            </a:extLst>
          </p:cNvPr>
          <p:cNvSpPr>
            <a:spLocks noChangeAspect="1"/>
          </p:cNvSpPr>
          <p:nvPr/>
        </p:nvSpPr>
        <p:spPr>
          <a:xfrm rot="21354980">
            <a:off x="5053660" y="994899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ángulo: biselado 26">
            <a:extLst>
              <a:ext uri="{FF2B5EF4-FFF2-40B4-BE49-F238E27FC236}">
                <a16:creationId xmlns:a16="http://schemas.microsoft.com/office/drawing/2014/main" id="{BE074DDC-F5B3-0A4B-09DF-73EBD1FF3A20}"/>
              </a:ext>
            </a:extLst>
          </p:cNvPr>
          <p:cNvSpPr>
            <a:spLocks noChangeAspect="1"/>
          </p:cNvSpPr>
          <p:nvPr/>
        </p:nvSpPr>
        <p:spPr>
          <a:xfrm rot="1551404">
            <a:off x="9850204" y="1051184"/>
            <a:ext cx="582368" cy="582368"/>
          </a:xfrm>
          <a:prstGeom prst="bevel">
            <a:avLst>
              <a:gd name="adj" fmla="val 17655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: biselado 28">
            <a:extLst>
              <a:ext uri="{FF2B5EF4-FFF2-40B4-BE49-F238E27FC236}">
                <a16:creationId xmlns:a16="http://schemas.microsoft.com/office/drawing/2014/main" id="{80AB32C5-4C67-F741-0655-A1F8CF47172C}"/>
              </a:ext>
            </a:extLst>
          </p:cNvPr>
          <p:cNvSpPr>
            <a:spLocks noChangeAspect="1"/>
          </p:cNvSpPr>
          <p:nvPr/>
        </p:nvSpPr>
        <p:spPr>
          <a:xfrm rot="21245635">
            <a:off x="11210819" y="5911825"/>
            <a:ext cx="892282" cy="892282"/>
          </a:xfrm>
          <a:prstGeom prst="bevel">
            <a:avLst>
              <a:gd name="adj" fmla="val 17655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: biselado 30">
            <a:extLst>
              <a:ext uri="{FF2B5EF4-FFF2-40B4-BE49-F238E27FC236}">
                <a16:creationId xmlns:a16="http://schemas.microsoft.com/office/drawing/2014/main" id="{AD1ACB5E-0877-23EF-F9CF-BE139312514D}"/>
              </a:ext>
            </a:extLst>
          </p:cNvPr>
          <p:cNvSpPr>
            <a:spLocks noChangeAspect="1"/>
          </p:cNvSpPr>
          <p:nvPr/>
        </p:nvSpPr>
        <p:spPr>
          <a:xfrm rot="20341349">
            <a:off x="11469540" y="1285252"/>
            <a:ext cx="892282" cy="892282"/>
          </a:xfrm>
          <a:prstGeom prst="bevel">
            <a:avLst>
              <a:gd name="adj" fmla="val 17655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: biselado 18">
            <a:extLst>
              <a:ext uri="{FF2B5EF4-FFF2-40B4-BE49-F238E27FC236}">
                <a16:creationId xmlns:a16="http://schemas.microsoft.com/office/drawing/2014/main" id="{1002FC3C-2CD5-60DC-1212-671C45212AC8}"/>
              </a:ext>
            </a:extLst>
          </p:cNvPr>
          <p:cNvSpPr/>
          <p:nvPr/>
        </p:nvSpPr>
        <p:spPr>
          <a:xfrm rot="1247275">
            <a:off x="238008" y="1316311"/>
            <a:ext cx="1042416" cy="1042416"/>
          </a:xfrm>
          <a:prstGeom prst="bevel">
            <a:avLst>
              <a:gd name="adj" fmla="val 17655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E378B6-2239-68BA-20C9-26A1E554E640}"/>
              </a:ext>
            </a:extLst>
          </p:cNvPr>
          <p:cNvSpPr/>
          <p:nvPr/>
        </p:nvSpPr>
        <p:spPr>
          <a:xfrm>
            <a:off x="0" y="0"/>
            <a:ext cx="12192000" cy="747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A0096-400A-3FD5-689B-3D480C089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1" y="1999840"/>
            <a:ext cx="6731000" cy="3762320"/>
          </a:xfr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Contenido: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1.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2.</a:t>
            </a:r>
          </a:p>
          <a:p>
            <a:r>
              <a:rPr lang="es-MX" b="1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3.</a:t>
            </a:r>
          </a:p>
          <a:p>
            <a:pPr marL="0" indent="0" algn="ctr">
              <a:buNone/>
            </a:pPr>
            <a:r>
              <a:rPr lang="es-E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Clasificación mediante DR QNN SU(4) de Camila con reducción de dimensionalidad</a:t>
            </a:r>
            <a:endParaRPr lang="es-MX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4.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Futuras pruebas.</a:t>
            </a:r>
          </a:p>
          <a:p>
            <a:endParaRPr lang="es-MX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8C4AC1B-A722-D59B-5E1A-6AC73C15F31F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Contenido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19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A581E3E3-720C-E516-BD9F-F989B29B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0" name="Imagen 9" descr="EHU - YouTube">
            <a:extLst>
              <a:ext uri="{FF2B5EF4-FFF2-40B4-BE49-F238E27FC236}">
                <a16:creationId xmlns:a16="http://schemas.microsoft.com/office/drawing/2014/main" id="{75EF329D-086F-197D-8491-6279682438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45B1A600-3D21-028A-E727-CC044336ACF7}"/>
              </a:ext>
            </a:extLst>
          </p:cNvPr>
          <p:cNvGrpSpPr/>
          <p:nvPr/>
        </p:nvGrpSpPr>
        <p:grpSpPr>
          <a:xfrm>
            <a:off x="7562786" y="2280065"/>
            <a:ext cx="4441494" cy="3036714"/>
            <a:chOff x="7562786" y="2280065"/>
            <a:chExt cx="4441494" cy="3036714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C252BCB-1593-12DB-017E-F5737D96C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2786" y="2280065"/>
              <a:ext cx="4441494" cy="3036714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BA274F0-D9FC-E07A-B794-11A2C6D67F06}"/>
                </a:ext>
              </a:extLst>
            </p:cNvPr>
            <p:cNvSpPr txBox="1"/>
            <p:nvPr/>
          </p:nvSpPr>
          <p:spPr>
            <a:xfrm rot="19842112">
              <a:off x="7887618" y="3452579"/>
              <a:ext cx="4006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400" b="1" dirty="0">
                  <a:ln w="12700">
                    <a:solidFill>
                      <a:schemeClr val="accent5"/>
                    </a:solidFill>
                    <a:prstDash val="solid"/>
                  </a:ln>
                  <a:pattFill prst="ltDnDiag">
                    <a:fgClr>
                      <a:schemeClr val="accent5">
                        <a:lumMod val="60000"/>
                        <a:lumOff val="40000"/>
                      </a:schemeClr>
                    </a:fgClr>
                    <a:bgClr>
                      <a:schemeClr val="bg1"/>
                    </a:bgClr>
                  </a:pattFill>
                </a:rPr>
                <a:t>Camila Cristiano-Romero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82BC8BB-D429-1433-A683-85CF3AB0FAB5}"/>
                </a:ext>
              </a:extLst>
            </p:cNvPr>
            <p:cNvSpPr txBox="1"/>
            <p:nvPr/>
          </p:nvSpPr>
          <p:spPr>
            <a:xfrm rot="19842112">
              <a:off x="9685336" y="4399077"/>
              <a:ext cx="19713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b="1" dirty="0">
                  <a:ln w="12700">
                    <a:solidFill>
                      <a:schemeClr val="accent5"/>
                    </a:solidFill>
                    <a:prstDash val="solid"/>
                  </a:ln>
                  <a:pattFill prst="ltDnDiag">
                    <a:fgClr>
                      <a:schemeClr val="accent5">
                        <a:lumMod val="60000"/>
                        <a:lumOff val="40000"/>
                      </a:schemeClr>
                    </a:fgClr>
                    <a:bgClr>
                      <a:schemeClr val="bg1"/>
                    </a:bgClr>
                  </a:pattFill>
                </a:rPr>
                <a:t>Camila Cristiano-Romero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F71366A5-BB03-9464-8015-98620E6EE2D6}"/>
                </a:ext>
              </a:extLst>
            </p:cNvPr>
            <p:cNvSpPr txBox="1"/>
            <p:nvPr/>
          </p:nvSpPr>
          <p:spPr>
            <a:xfrm rot="19842112">
              <a:off x="7870501" y="2917070"/>
              <a:ext cx="19713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b="1" dirty="0">
                  <a:ln w="12700">
                    <a:solidFill>
                      <a:schemeClr val="accent5"/>
                    </a:solidFill>
                    <a:prstDash val="solid"/>
                  </a:ln>
                  <a:pattFill prst="ltDnDiag">
                    <a:fgClr>
                      <a:schemeClr val="accent5">
                        <a:lumMod val="60000"/>
                        <a:lumOff val="40000"/>
                      </a:schemeClr>
                    </a:fgClr>
                    <a:bgClr>
                      <a:schemeClr val="bg1"/>
                    </a:bgClr>
                  </a:pattFill>
                </a:rPr>
                <a:t>Camila Cristiano-Romero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0335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64D35-BE7D-AEAC-C356-79B696D6D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EE00657-E7A9-2360-A9C6-16B917C0E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620924"/>
              </p:ext>
            </p:extLst>
          </p:nvPr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20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9185CE9C-12B7-77EC-DBE3-E9A47336B700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09C049C0-BC25-8EF3-789F-2D1E40E55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C593A800-CA22-4488-278A-624241CAA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FA23BD26-6F64-9A38-7D8B-22D7ED4C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71" y="558000"/>
            <a:ext cx="10782783" cy="970688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s-E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Clasificación mediante DR QNN SU(4) de Camila con reducción de dimensionalidad</a:t>
            </a:r>
            <a:endParaRPr lang="es-MX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25EA62F-AC6D-7D98-BB54-A8659225EE6D}"/>
              </a:ext>
            </a:extLst>
          </p:cNvPr>
          <p:cNvSpPr/>
          <p:nvPr/>
        </p:nvSpPr>
        <p:spPr>
          <a:xfrm>
            <a:off x="6041999" y="1728464"/>
            <a:ext cx="108000" cy="4752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B6BB188-17CC-AEF7-DDE7-157674DB59C6}"/>
              </a:ext>
            </a:extLst>
          </p:cNvPr>
          <p:cNvGrpSpPr/>
          <p:nvPr/>
        </p:nvGrpSpPr>
        <p:grpSpPr>
          <a:xfrm>
            <a:off x="6770786" y="2147781"/>
            <a:ext cx="4441494" cy="3036714"/>
            <a:chOff x="7562786" y="2280065"/>
            <a:chExt cx="4441494" cy="3036714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A4817763-83F5-C22F-F7F2-B0314A24F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2786" y="2280065"/>
              <a:ext cx="4441494" cy="3036714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1942FA19-E793-EA3B-38A4-0DEBC96160B9}"/>
                </a:ext>
              </a:extLst>
            </p:cNvPr>
            <p:cNvSpPr txBox="1"/>
            <p:nvPr/>
          </p:nvSpPr>
          <p:spPr>
            <a:xfrm rot="19842112">
              <a:off x="7887618" y="3452579"/>
              <a:ext cx="4006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400" b="1" dirty="0">
                  <a:ln w="12700">
                    <a:solidFill>
                      <a:schemeClr val="accent5"/>
                    </a:solidFill>
                    <a:prstDash val="solid"/>
                  </a:ln>
                  <a:pattFill prst="ltDnDiag">
                    <a:fgClr>
                      <a:schemeClr val="accent5">
                        <a:lumMod val="60000"/>
                        <a:lumOff val="40000"/>
                      </a:schemeClr>
                    </a:fgClr>
                    <a:bgClr>
                      <a:schemeClr val="bg1"/>
                    </a:bgClr>
                  </a:pattFill>
                </a:rPr>
                <a:t>Camila Cristiano-Romero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0007DE9C-703D-D09C-8957-01EA389E866C}"/>
                </a:ext>
              </a:extLst>
            </p:cNvPr>
            <p:cNvSpPr txBox="1"/>
            <p:nvPr/>
          </p:nvSpPr>
          <p:spPr>
            <a:xfrm rot="19842112">
              <a:off x="9685336" y="4399077"/>
              <a:ext cx="19713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b="1" dirty="0">
                  <a:ln w="12700">
                    <a:solidFill>
                      <a:schemeClr val="accent5"/>
                    </a:solidFill>
                    <a:prstDash val="solid"/>
                  </a:ln>
                  <a:pattFill prst="ltDnDiag">
                    <a:fgClr>
                      <a:schemeClr val="accent5">
                        <a:lumMod val="60000"/>
                        <a:lumOff val="40000"/>
                      </a:schemeClr>
                    </a:fgClr>
                    <a:bgClr>
                      <a:schemeClr val="bg1"/>
                    </a:bgClr>
                  </a:pattFill>
                </a:rPr>
                <a:t>Camila Cristiano-Romero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26BFED67-126D-5012-D539-234536396864}"/>
                </a:ext>
              </a:extLst>
            </p:cNvPr>
            <p:cNvSpPr txBox="1"/>
            <p:nvPr/>
          </p:nvSpPr>
          <p:spPr>
            <a:xfrm rot="19842112">
              <a:off x="7870501" y="2917070"/>
              <a:ext cx="19713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b="1" dirty="0">
                  <a:ln w="12700">
                    <a:solidFill>
                      <a:schemeClr val="accent5"/>
                    </a:solidFill>
                    <a:prstDash val="solid"/>
                  </a:ln>
                  <a:pattFill prst="ltDnDiag">
                    <a:fgClr>
                      <a:schemeClr val="accent5">
                        <a:lumMod val="60000"/>
                        <a:lumOff val="40000"/>
                      </a:schemeClr>
                    </a:fgClr>
                    <a:bgClr>
                      <a:schemeClr val="bg1"/>
                    </a:bgClr>
                  </a:pattFill>
                </a:rPr>
                <a:t>Camila Cristiano-Romero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242DBD9-6EA8-EA03-34C6-59452997EB8E}"/>
              </a:ext>
            </a:extLst>
          </p:cNvPr>
          <p:cNvSpPr txBox="1"/>
          <p:nvPr/>
        </p:nvSpPr>
        <p:spPr>
          <a:xfrm>
            <a:off x="169050" y="1728464"/>
            <a:ext cx="5699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highlight>
                  <a:srgbClr val="DCA6FC"/>
                </a:highlight>
              </a:rPr>
              <a:t>Pre procesado de datos // Transformaciones satelitales de </a:t>
            </a:r>
            <a:r>
              <a:rPr lang="es-MX" b="1" dirty="0">
                <a:highlight>
                  <a:srgbClr val="DCA6FC"/>
                </a:highlight>
              </a:rPr>
              <a:t>1 a 15 características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775815F4-3AE2-CC9F-F095-AC3AA9F765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99" y="2556498"/>
            <a:ext cx="5139663" cy="190170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8748EF9-CAE3-651D-028D-48883C289E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335" t="78469" r="48272" b="13944"/>
          <a:stretch>
            <a:fillRect/>
          </a:stretch>
        </p:blipFill>
        <p:spPr>
          <a:xfrm>
            <a:off x="86955" y="4949308"/>
            <a:ext cx="1156039" cy="73590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A66B8A0B-6F99-1D63-D68E-8AE732503AD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5" t="87996" r="48272" b="9069"/>
          <a:stretch>
            <a:fillRect/>
          </a:stretch>
        </p:blipFill>
        <p:spPr>
          <a:xfrm>
            <a:off x="86955" y="5685216"/>
            <a:ext cx="1156039" cy="284733"/>
          </a:xfrm>
          <a:prstGeom prst="rect">
            <a:avLst/>
          </a:prstGeom>
        </p:spPr>
      </p:pic>
      <p:sp>
        <p:nvSpPr>
          <p:cNvPr id="32" name="Abrir llave 31">
            <a:extLst>
              <a:ext uri="{FF2B5EF4-FFF2-40B4-BE49-F238E27FC236}">
                <a16:creationId xmlns:a16="http://schemas.microsoft.com/office/drawing/2014/main" id="{745B0014-B851-26BA-086B-223E8F407128}"/>
              </a:ext>
            </a:extLst>
          </p:cNvPr>
          <p:cNvSpPr/>
          <p:nvPr/>
        </p:nvSpPr>
        <p:spPr>
          <a:xfrm>
            <a:off x="1428410" y="4608280"/>
            <a:ext cx="242520" cy="1646559"/>
          </a:xfrm>
          <a:prstGeom prst="leftBrace">
            <a:avLst>
              <a:gd name="adj1" fmla="val 65951"/>
              <a:gd name="adj2" fmla="val 42822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23348D4-230B-69BF-8D42-A0CA121EFB43}"/>
              </a:ext>
            </a:extLst>
          </p:cNvPr>
          <p:cNvSpPr txBox="1"/>
          <p:nvPr/>
        </p:nvSpPr>
        <p:spPr>
          <a:xfrm>
            <a:off x="8205957" y="1707453"/>
            <a:ext cx="149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MX" dirty="0">
                <a:highlight>
                  <a:srgbClr val="DCA6FC"/>
                </a:highlight>
              </a:rPr>
              <a:t>Clasificación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22036A7-647A-976D-8CE8-2DD6A1F4B0C6}"/>
              </a:ext>
            </a:extLst>
          </p:cNvPr>
          <p:cNvSpPr txBox="1"/>
          <p:nvPr/>
        </p:nvSpPr>
        <p:spPr>
          <a:xfrm>
            <a:off x="1654136" y="4508229"/>
            <a:ext cx="206755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AE Lineal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AE No lineal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690BA2E-6828-A091-E567-2B77F3FCBEC3}"/>
              </a:ext>
            </a:extLst>
          </p:cNvPr>
          <p:cNvSpPr txBox="1"/>
          <p:nvPr/>
        </p:nvSpPr>
        <p:spPr>
          <a:xfrm>
            <a:off x="6668619" y="5251420"/>
            <a:ext cx="4645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1200" dirty="0"/>
              <a:t>https://drive.google.com/drive/folders/17m5QfvgXbJkbpuBNov3d8NkwIAjhguYp?usp=sharing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A2EB3F3-A8ED-DA63-D1DF-19D539C27113}"/>
              </a:ext>
            </a:extLst>
          </p:cNvPr>
          <p:cNvSpPr txBox="1"/>
          <p:nvPr/>
        </p:nvSpPr>
        <p:spPr>
          <a:xfrm>
            <a:off x="3634064" y="4545674"/>
            <a:ext cx="2268487" cy="1754326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MX" b="1" dirty="0"/>
              <a:t>60 CSV (15 x 4).</a:t>
            </a:r>
          </a:p>
          <a:p>
            <a:pPr marL="285750" indent="-285750">
              <a:buFontTx/>
              <a:buChar char="-"/>
            </a:pPr>
            <a:r>
              <a:rPr lang="es-MX" b="1" dirty="0"/>
              <a:t>60 / 20 /20.</a:t>
            </a:r>
          </a:p>
          <a:p>
            <a:pPr marL="285750" indent="-285750">
              <a:buFontTx/>
              <a:buChar char="-"/>
            </a:pPr>
            <a:r>
              <a:rPr lang="es-MX" b="1" dirty="0"/>
              <a:t>Configuración explicada arriba.</a:t>
            </a:r>
          </a:p>
          <a:p>
            <a:pPr marL="285750" indent="-285750">
              <a:buFontTx/>
              <a:buChar char="-"/>
            </a:pPr>
            <a:r>
              <a:rPr lang="es-MX" b="1" dirty="0"/>
              <a:t># 20 976</a:t>
            </a:r>
          </a:p>
          <a:p>
            <a:pPr marL="285750" indent="-285750">
              <a:buFontTx/>
              <a:buChar char="-"/>
            </a:pPr>
            <a:r>
              <a:rPr lang="es-MX" b="1" dirty="0"/>
              <a:t>5 </a:t>
            </a:r>
            <a:r>
              <a:rPr lang="es-MX" b="1" dirty="0" err="1"/>
              <a:t>folds</a:t>
            </a:r>
            <a:endParaRPr lang="es-MX" b="1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4901B16-AF20-99F9-D1FA-44AF087A0E8D}"/>
              </a:ext>
            </a:extLst>
          </p:cNvPr>
          <p:cNvSpPr txBox="1"/>
          <p:nvPr/>
        </p:nvSpPr>
        <p:spPr>
          <a:xfrm>
            <a:off x="6323189" y="6033748"/>
            <a:ext cx="534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50" dirty="0"/>
              <a:t>https://github.com/Bayan0708/Quantum-Neural-Networks/blob/main/Zn_Latent_Space_Analysis%20directory/Satellite_Transformaciones_1_a_15_60_20_20.ipynb</a:t>
            </a:r>
          </a:p>
        </p:txBody>
      </p:sp>
      <p:sp>
        <p:nvSpPr>
          <p:cNvPr id="49" name="Flecha: doblada 48">
            <a:extLst>
              <a:ext uri="{FF2B5EF4-FFF2-40B4-BE49-F238E27FC236}">
                <a16:creationId xmlns:a16="http://schemas.microsoft.com/office/drawing/2014/main" id="{DBE3226C-3BDE-CBA4-A5D8-1F31673DC902}"/>
              </a:ext>
            </a:extLst>
          </p:cNvPr>
          <p:cNvSpPr/>
          <p:nvPr/>
        </p:nvSpPr>
        <p:spPr>
          <a:xfrm rot="10800000" flipV="1">
            <a:off x="6223017" y="5525455"/>
            <a:ext cx="602829" cy="473267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8251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833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8741-8B78-A393-7A9C-AF293F6F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A092F14-3321-C1F8-8276-536FD916E718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21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87A78D8-C839-E5ED-2D93-D2FCA188E5B7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515E5824-9A95-3DA4-49AE-80B42EAF6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A0A25542-2156-1647-6F90-FDB1AFF65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6379C06-616E-63BF-EF5F-4F2B64718E6E}"/>
              </a:ext>
            </a:extLst>
          </p:cNvPr>
          <p:cNvSpPr txBox="1"/>
          <p:nvPr/>
        </p:nvSpPr>
        <p:spPr>
          <a:xfrm>
            <a:off x="3928293" y="458390"/>
            <a:ext cx="4330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Rendimiento general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B17EC20-7716-BF67-5A76-8169EF872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594242"/>
              </p:ext>
            </p:extLst>
          </p:nvPr>
        </p:nvGraphicFramePr>
        <p:xfrm>
          <a:off x="182880" y="938880"/>
          <a:ext cx="11653520" cy="5365022"/>
        </p:xfrm>
        <a:graphic>
          <a:graphicData uri="http://schemas.openxmlformats.org/drawingml/2006/table">
            <a:tbl>
              <a:tblPr/>
              <a:tblGrid>
                <a:gridCol w="1940560">
                  <a:extLst>
                    <a:ext uri="{9D8B030D-6E8A-4147-A177-3AD203B41FA5}">
                      <a16:colId xmlns:a16="http://schemas.microsoft.com/office/drawing/2014/main" val="2365734603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1330091238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4912977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1794155265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129512534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7967766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14618766"/>
                    </a:ext>
                  </a:extLst>
                </a:gridCol>
              </a:tblGrid>
              <a:tr h="41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Transformación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Qubits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Train </a:t>
                      </a:r>
                      <a:r>
                        <a:rPr lang="es-MX" sz="2000" b="1" dirty="0" err="1">
                          <a:solidFill>
                            <a:schemeClr val="bg1"/>
                          </a:solidFill>
                        </a:rPr>
                        <a:t>Acc</a:t>
                      </a: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 (%)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Val </a:t>
                      </a:r>
                      <a:r>
                        <a:rPr lang="es-MX" sz="2000" b="1" dirty="0" err="1">
                          <a:solidFill>
                            <a:schemeClr val="bg1"/>
                          </a:solidFill>
                        </a:rPr>
                        <a:t>Acc</a:t>
                      </a: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 (%)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Test </a:t>
                      </a:r>
                      <a:r>
                        <a:rPr lang="es-MX" sz="2000" b="1" dirty="0" err="1">
                          <a:solidFill>
                            <a:schemeClr val="bg1"/>
                          </a:solidFill>
                        </a:rPr>
                        <a:t>Acc</a:t>
                      </a: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 (%)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Test AUC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F1 macro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04366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PCA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83.71 ± 0.69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83.62 ± 0.77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83.61 ± 0.78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0.9031 ± 0.0049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83.54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503467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PCA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84.99 ± 0.56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84.99 ± 0.50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84.98 ± 0.51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0.9126 ± 0.0055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84.91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576479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PCA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85.56 ± 0.41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85.48 ± 0.39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85.49 ± 0.38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0.9169 ± 0.0054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85.42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856601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ICA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82.19 ± 3.15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82.11 ± 3.22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82.13 ± 3.23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0.8874 ± 0.0306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82.05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00611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ICA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83.95 ± 2.76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83.87 ± 2.77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83.86 ± 2.77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0.9044 ± 0.0228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83.80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22615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ICA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84.47 ± 2.47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84.42 ± 2.47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84.44 ± 2.49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0.9085 ± 0.0208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84.39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894291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/>
                        <a:t>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87.93 ± 0.61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87.89 ± 0.62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87.87 ± 0.62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0.9357 ± 0.0068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87.83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439683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88.28 ± 0.79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88.21 ± 0.79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88.18 ± 0.79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0.9374 ± 0.0073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88.14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372164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88.50 ± 0.69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88.39 ± 0.71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88.30 ± 0.70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0.9384 ± 0.0071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88.26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794932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no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/>
                        <a:t>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87.96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87.97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87.94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0.9352 ± 0.0046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87.90</a:t>
                      </a:r>
                      <a:endParaRPr lang="es-MX" sz="1800" b="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666375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no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88.35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88.34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88.42 ± 0.47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0.9385 ± 0.0045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88.40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967392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no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88.42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88.36 ± 0.47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88.35 ± 0.47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0.9389 ± 0.0047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88.32</a:t>
                      </a:r>
                      <a:endParaRPr lang="es-MX" sz="1800" b="1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856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827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4FE9-8894-0531-DE5A-97651191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288D8F1-8841-5692-D8D4-2798B98A48A7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22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C7E2A775-FF62-9806-A800-F5F0DBCFEE7A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A510FA12-8132-5F0C-39F9-8AF4A782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3378884E-52DB-32F6-C0C1-66A01EB16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4CF3ED9-624D-6207-2E5B-C3F5DAFA5EC0}"/>
              </a:ext>
            </a:extLst>
          </p:cNvPr>
          <p:cNvSpPr txBox="1"/>
          <p:nvPr/>
        </p:nvSpPr>
        <p:spPr>
          <a:xfrm>
            <a:off x="1580484" y="36983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Comparativa con los resultados de Pablo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62CFC2-287D-1DA0-5EDA-3151CCCC2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840" y="1702597"/>
            <a:ext cx="5329160" cy="3193196"/>
          </a:xfrm>
          <a:prstGeom prst="rect">
            <a:avLst/>
          </a:prstGeom>
        </p:spPr>
      </p:pic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E194A7D6-263C-C89A-84D9-FF994B7F3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86733"/>
              </p:ext>
            </p:extLst>
          </p:nvPr>
        </p:nvGraphicFramePr>
        <p:xfrm>
          <a:off x="182880" y="938880"/>
          <a:ext cx="6116320" cy="5365022"/>
        </p:xfrm>
        <a:graphic>
          <a:graphicData uri="http://schemas.openxmlformats.org/drawingml/2006/table">
            <a:tbl>
              <a:tblPr/>
              <a:tblGrid>
                <a:gridCol w="1940560">
                  <a:extLst>
                    <a:ext uri="{9D8B030D-6E8A-4147-A177-3AD203B41FA5}">
                      <a16:colId xmlns:a16="http://schemas.microsoft.com/office/drawing/2014/main" val="2365734603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1330091238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4912977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1295125348"/>
                    </a:ext>
                  </a:extLst>
                </a:gridCol>
              </a:tblGrid>
              <a:tr h="41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Transformación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Qubits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Train </a:t>
                      </a:r>
                      <a:r>
                        <a:rPr lang="es-MX" sz="2000" b="1" dirty="0" err="1">
                          <a:solidFill>
                            <a:schemeClr val="bg1"/>
                          </a:solidFill>
                        </a:rPr>
                        <a:t>Acc</a:t>
                      </a: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 (%)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Test </a:t>
                      </a:r>
                      <a:r>
                        <a:rPr lang="es-MX" sz="2000" b="1" dirty="0" err="1">
                          <a:solidFill>
                            <a:schemeClr val="bg1"/>
                          </a:solidFill>
                        </a:rPr>
                        <a:t>Acc</a:t>
                      </a: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 (%)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04366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PCA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83.71 ± 0.69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83.61 ± 0.78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503467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PCA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84.99 ± 0.56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84.98 ± 0.51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576479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PCA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85.56 ± 0.41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85.49 ± 0.38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856601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ICA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82.19 ± 3.15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82.13 ± 3.23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00611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ICA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83.95 ± 2.76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83.86 ± 2.77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22615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ICA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84.47 ± 2.47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84.44 ± 2.49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894291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/>
                        <a:t>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87.93 ± 0.61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87.87 ± 0.62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439683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88.28 ± 0.79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88.18 ± 0.79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372164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88.50 ± 0.69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88.30 ± 0.70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794932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no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/>
                        <a:t>2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/>
                        <a:t>87.96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87.94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666375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no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4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88.35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88.42 ± 0.47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967392"/>
                  </a:ext>
                </a:extLst>
              </a:tr>
              <a:tr h="4126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2000" b="1" dirty="0"/>
                        <a:t>AE no lineal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88.42 ± 0.46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0" dirty="0"/>
                        <a:t>88.35 ± 0.47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856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141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82090-69A4-3978-F9DD-4C5EEB09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2EB946E-BFF0-53FD-E8D8-7633EC7ECC0B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23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5127F6BC-1174-74AC-00B4-FCB9C8B9A452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DCAA998C-793D-1513-AE38-3813341C2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4F4A18CB-3798-2979-929A-6F329E0310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E820A28-B6CA-F63F-ACE8-F0D8E37B4609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¿Cuánto mejora al aumentar capas?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69B38B-42CD-B36A-4397-9F9BA9059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53" y="3133612"/>
            <a:ext cx="5694687" cy="3532148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60AC066-FEF0-DCEB-ACAE-4D454739D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245732"/>
              </p:ext>
            </p:extLst>
          </p:nvPr>
        </p:nvGraphicFramePr>
        <p:xfrm>
          <a:off x="187953" y="1262880"/>
          <a:ext cx="5694688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13567">
                  <a:extLst>
                    <a:ext uri="{9D8B030D-6E8A-4147-A177-3AD203B41FA5}">
                      <a16:colId xmlns:a16="http://schemas.microsoft.com/office/drawing/2014/main" val="399481756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91571887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921976724"/>
                    </a:ext>
                  </a:extLst>
                </a:gridCol>
                <a:gridCol w="1300481">
                  <a:extLst>
                    <a:ext uri="{9D8B030D-6E8A-4147-A177-3AD203B41FA5}">
                      <a16:colId xmlns:a16="http://schemas.microsoft.com/office/drawing/2014/main" val="2102262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Transformación</a:t>
                      </a:r>
                    </a:p>
                  </a:txBody>
                  <a:tcPr anchor="ctr">
                    <a:solidFill>
                      <a:srgbClr val="DCA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2→4</a:t>
                      </a:r>
                    </a:p>
                  </a:txBody>
                  <a:tcPr anchor="ctr">
                    <a:solidFill>
                      <a:srgbClr val="DCA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4→6</a:t>
                      </a:r>
                    </a:p>
                  </a:txBody>
                  <a:tcPr anchor="ctr">
                    <a:solidFill>
                      <a:srgbClr val="DCA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2→6</a:t>
                      </a:r>
                    </a:p>
                  </a:txBody>
                  <a:tcPr anchor="ctr">
                    <a:solidFill>
                      <a:srgbClr val="DCA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9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PCA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+1.37 %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+0.51 %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+1.88 %</a:t>
                      </a:r>
                      <a:endParaRPr lang="es-MX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023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+1.73 %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+0.58 %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+2.31 %</a:t>
                      </a:r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986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AE lineal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+0.31 %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+0.12 %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+0.43 %</a:t>
                      </a:r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460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AE no lineal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+0.48 %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−0.07 %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+0.41 %</a:t>
                      </a:r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905177"/>
                  </a:ext>
                </a:extLst>
              </a:tr>
            </a:tbl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B4BB78BD-8C1C-E18F-820B-264CAE115D97}"/>
              </a:ext>
            </a:extLst>
          </p:cNvPr>
          <p:cNvSpPr/>
          <p:nvPr/>
        </p:nvSpPr>
        <p:spPr>
          <a:xfrm>
            <a:off x="6041999" y="1393184"/>
            <a:ext cx="108000" cy="5112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DB9BB102-E040-8C0E-F53E-D7F63E416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440505"/>
              </p:ext>
            </p:extLst>
          </p:nvPr>
        </p:nvGraphicFramePr>
        <p:xfrm>
          <a:off x="6309357" y="4753690"/>
          <a:ext cx="5623568" cy="1676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6243">
                  <a:extLst>
                    <a:ext uri="{9D8B030D-6E8A-4147-A177-3AD203B41FA5}">
                      <a16:colId xmlns:a16="http://schemas.microsoft.com/office/drawing/2014/main" val="719704985"/>
                    </a:ext>
                  </a:extLst>
                </a:gridCol>
                <a:gridCol w="1145541">
                  <a:extLst>
                    <a:ext uri="{9D8B030D-6E8A-4147-A177-3AD203B41FA5}">
                      <a16:colId xmlns:a16="http://schemas.microsoft.com/office/drawing/2014/main" val="2297123935"/>
                    </a:ext>
                  </a:extLst>
                </a:gridCol>
                <a:gridCol w="1405892">
                  <a:extLst>
                    <a:ext uri="{9D8B030D-6E8A-4147-A177-3AD203B41FA5}">
                      <a16:colId xmlns:a16="http://schemas.microsoft.com/office/drawing/2014/main" val="3616203978"/>
                    </a:ext>
                  </a:extLst>
                </a:gridCol>
                <a:gridCol w="1405892">
                  <a:extLst>
                    <a:ext uri="{9D8B030D-6E8A-4147-A177-3AD203B41FA5}">
                      <a16:colId xmlns:a16="http://schemas.microsoft.com/office/drawing/2014/main" val="121814725"/>
                    </a:ext>
                  </a:extLst>
                </a:gridCol>
              </a:tblGrid>
              <a:tr h="305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dirty="0"/>
                        <a:t>Transformación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dirty="0"/>
                        <a:t>2q (s)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dirty="0"/>
                        <a:t>4q (s)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dirty="0"/>
                        <a:t>6q (s)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821399"/>
                  </a:ext>
                </a:extLst>
              </a:tr>
              <a:tr h="305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PCA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 dirty="0"/>
                        <a:t>446.0 ± 9.6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 dirty="0"/>
                        <a:t>536.6 ± 5.2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/>
                        <a:t>718.9 ± 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130228"/>
                  </a:ext>
                </a:extLst>
              </a:tr>
              <a:tr h="305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 dirty="0"/>
                        <a:t>451.6 ± 6.8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 dirty="0"/>
                        <a:t>546.0 ± 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/>
                        <a:t>724.4 ± 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566156"/>
                  </a:ext>
                </a:extLst>
              </a:tr>
              <a:tr h="305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AE lineal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/>
                        <a:t>451.1 ± 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 dirty="0"/>
                        <a:t>541.7 ± 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 dirty="0"/>
                        <a:t>726.6 ± 2.6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65917"/>
                  </a:ext>
                </a:extLst>
              </a:tr>
              <a:tr h="305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AE no lineal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/>
                        <a:t>452.3 ± 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/>
                        <a:t>545.7 ± 5.2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400" b="0" dirty="0"/>
                        <a:t>726.8 ± 5.8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6803668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BE1EC691-5303-DCE4-F99C-35189787AD54}"/>
              </a:ext>
            </a:extLst>
          </p:cNvPr>
          <p:cNvSpPr txBox="1"/>
          <p:nvPr/>
        </p:nvSpPr>
        <p:spPr>
          <a:xfrm>
            <a:off x="6096000" y="43843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Tiempo de entrenamiento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598E566-78F2-02C9-78EB-AAF6CAB7F2FC}"/>
              </a:ext>
            </a:extLst>
          </p:cNvPr>
          <p:cNvSpPr txBox="1"/>
          <p:nvPr/>
        </p:nvSpPr>
        <p:spPr>
          <a:xfrm>
            <a:off x="6073141" y="12628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Estabilidad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E412649-5A19-EE07-2289-5D4FF7C89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31470"/>
              </p:ext>
            </p:extLst>
          </p:nvPr>
        </p:nvGraphicFramePr>
        <p:xfrm>
          <a:off x="6913881" y="1675358"/>
          <a:ext cx="4414520" cy="1676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7260">
                  <a:extLst>
                    <a:ext uri="{9D8B030D-6E8A-4147-A177-3AD203B41FA5}">
                      <a16:colId xmlns:a16="http://schemas.microsoft.com/office/drawing/2014/main" val="1821291332"/>
                    </a:ext>
                  </a:extLst>
                </a:gridCol>
                <a:gridCol w="2207260">
                  <a:extLst>
                    <a:ext uri="{9D8B030D-6E8A-4147-A177-3AD203B41FA5}">
                      <a16:colId xmlns:a16="http://schemas.microsoft.com/office/drawing/2014/main" val="1486749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Transformación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Mejor </a:t>
                      </a:r>
                      <a:r>
                        <a:rPr lang="es-MX" sz="1600" b="1" dirty="0" err="1"/>
                        <a:t>std</a:t>
                      </a:r>
                      <a:r>
                        <a:rPr lang="es-MX" sz="1600" b="1" dirty="0"/>
                        <a:t> (Test </a:t>
                      </a:r>
                      <a:r>
                        <a:rPr lang="es-MX" sz="1600" b="1" dirty="0" err="1"/>
                        <a:t>Acc</a:t>
                      </a:r>
                      <a:r>
                        <a:rPr lang="es-MX" sz="1600" b="1" dirty="0"/>
                        <a:t>)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251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dirty="0"/>
                        <a:t>PCA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/>
                        <a:t>±0.38</a:t>
                      </a:r>
                      <a:endParaRPr lang="es-MX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645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dirty="0"/>
                        <a:t>AE no lineal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±0.46</a:t>
                      </a:r>
                      <a:endParaRPr lang="es-MX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943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AE lineal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±0.70</a:t>
                      </a:r>
                      <a:endParaRPr lang="es-MX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147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±2.49</a:t>
                      </a:r>
                      <a:endParaRPr lang="es-MX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386769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514EDD76-099A-EE8E-9CF2-A280BB6E1513}"/>
              </a:ext>
            </a:extLst>
          </p:cNvPr>
          <p:cNvSpPr txBox="1"/>
          <p:nvPr/>
        </p:nvSpPr>
        <p:spPr>
          <a:xfrm>
            <a:off x="6702119" y="3406393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ICA no solo obtiene menor rendimiento, sino que además presenta una variabilidad muy superior entre </a:t>
            </a:r>
            <a:r>
              <a:rPr lang="es-MX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folds</a:t>
            </a:r>
            <a:r>
              <a:rPr lang="es-MX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8300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ABE5A-9B70-2988-D77B-48512B82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3ABB698-B163-B06C-0560-57CDB8EAD14D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24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0C63B611-CD59-4402-7A12-D76FF5C7DECE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117D3D5A-B362-E68B-37E5-8C1CAD226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1CEBED64-A393-563F-A79E-D7BA044873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B02AC69-92BC-ECA6-6E2C-0C3E5ACC8E76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PCA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6F5229-9CA6-98E8-23A7-8AE3E1AEA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80" y="117673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61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075A-E992-443E-8C46-2F56C40E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C244D08-0B65-A15D-F45E-6B72258F26B3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25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61899375-D097-E5E4-8209-782F4970E1FF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AC075446-5102-08DE-D47C-A18F94597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4F32659A-A674-F3EF-32A2-3EF67E5951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D758FAF-4AEE-BDCA-2D93-42CCD94D57BF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PCA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71F4BF-A992-7D0C-FDA6-B94FA62CB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80" y="117673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74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DD4E1-2EF5-765F-DE24-2D1A7F9C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12AF028-12EE-C1EC-BE13-006D361F390B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26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E1FA17E6-BCE5-7CA3-5755-11B78B966E90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EBE976AC-7B29-87A5-C21E-13895D9D2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8D0A2AF6-C27F-75E2-F72F-F7AC4223F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56B6F72-3A37-E59D-5D67-812AD5CF142C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PCA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717FD03-C023-1677-9D9C-8FA92FBDD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80" y="126900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11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7084-F67F-25E6-A96D-6ECE50C6E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32DECAD-59AF-2669-8595-ECB88E5C8242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27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5EE20118-9475-F5EC-FBD7-D5BEDF8FE8EE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2F332746-7BAB-2878-7660-B922F841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C5BB6EC2-6035-84C9-CE8D-50B4555CF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4979994-0F65-6884-0228-6250F8EF3792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ICA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456AB7F-9277-AC58-9C75-ECD635E8F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1" y="116449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53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6C62A-16D8-DED4-347D-D909E76F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8E5CCA0-371D-3C0B-8836-5EAAA8970BAD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28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2E2BA788-8535-BA27-89E3-8BC8065B0B48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AAF732E3-6697-03DC-B029-92C2034BC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DB9F806D-36DD-F8B8-B402-1E7431170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BA26F45-7516-9218-955E-84F4A4251FB9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ICA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BBB6C5-FE75-2F21-325C-50444BC37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80" y="111877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79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1D91-71DE-44B4-581C-54D49E7A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561B11F-2E14-B07C-72CA-B337AA559AB2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29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31BC88B-A8AD-1538-8557-BA6EDB6EE885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77B6FFCD-71AD-4E97-CE2B-06822E402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6AEAF971-9A60-BB9A-D229-174993D3B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B296B84-F89A-2DAA-7987-55374E63B836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ICA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34193E-D535-0CE1-EF8D-66F1C8F8C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80" y="126900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74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575B4-9F7E-E02C-0539-36CF03F4B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BF10F4B-5047-076F-4AFF-AD1A0DEF043E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30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BE5DF9FA-4893-97EC-0B65-7C39C00FD56A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FECFE3B3-C45C-48A0-FBA0-FFCBF24D3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8E799773-F391-1D7D-DE80-80E9B0191A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24D8160-FEC8-7711-3D45-D3792F86FD5A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AE lineal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C3C6370-1069-FDAA-B4D3-E7C550B02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1" y="119639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37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4024A-F7C5-1598-BC3A-5DBAD48D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70C6482-4D47-5D68-D189-FBC224DB251B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31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B128395D-57A1-132B-297A-DBB2EC9559AB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30235247-84E8-73A3-2EA2-FFA9A5D32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8B3F3EFD-4C4C-32CB-BD3B-7EB042B3A1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1E229EF-2D71-792C-20EC-FEA5B69E1E17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AE lineal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0AE895A-5D91-FF4C-DA71-F308161E5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1" y="119639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70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CBC2-38AF-39FF-6EC5-9D3C0ABF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7E02C26-8E67-3E32-9976-23E08308B78A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32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F1569918-6A31-2355-95BD-0185F4DE100C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30FABCB5-2A48-243E-3461-BA00CCE73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9F5F2104-68E2-2F66-136C-999DFF99F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88A7272-DF13-7082-EAD7-79D9C1158913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AE lineal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6BDAE9-FEB9-91CD-5DDB-EBA786FBE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1" y="119639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91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48B18-6A7A-A6B3-C1D0-FA3563AB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64D41DA-909C-420C-5B0B-1E662BE9B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33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DE7B145B-7C2A-D3F5-5B7F-22B334FF54B0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EA16EAAB-590A-D421-FD7C-AD05D3788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D7783313-3EDE-0EA4-E34E-E57506CF6A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6A66073-423F-5938-6839-F1ADA5F11A1F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AE no lineal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8727301-3C73-CAD1-895D-F8281532F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1" y="116449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30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0C1C1-C270-63FA-3FCD-33AB8BAD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3C8E2B5-29FB-C742-8C62-8642FAD2D090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34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327D216C-498B-07B7-09A8-DD28069364A2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BF44CCD1-48F5-232A-EFBA-A6FB769D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BAC59E94-FCAF-46A0-6A40-BDCCAA5184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9AFC72C-D063-FAB2-24B2-8D6F56BD6B2E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AE no lineal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4128BE-ECEB-B6ED-0761-C96AAA134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1" y="126900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0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B380-D035-3CD1-0BB4-EEC5AE53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233E52D-0C20-9915-F255-D8F1BB7C8B6C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35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B225B5F1-A2B6-05F6-6BB6-A27A18999039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A17AD7A6-F2B3-9DA5-0570-58020BD4B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E813822C-1BAD-1F32-701E-F301D3B70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8D7FE2F-B006-4841-15C5-8899F332BDE0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AE no lineal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E460DF-464B-6223-645F-1A6FAC68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1" y="1269000"/>
            <a:ext cx="1101111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58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FB79-5EC0-9500-2299-0508E82D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265D7E1-55FB-AD66-02A5-164725A264F8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36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16AB6732-D13F-5B90-AAD3-4896AEE2C30B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EC118749-E0EA-D499-03E5-87F7AE089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4A1F4352-7C09-1F58-C048-5A1C002DA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DFE0382-785A-8045-7009-D1B792FBF870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Graficas grupales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18DDBD9-25E8-C63E-0AC9-CDEB42492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83" y="1118880"/>
            <a:ext cx="1087043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91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4D29-AAE2-6CD6-1D5E-6022EC12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E566B4F-2E64-05CD-99BA-5BC029D5FB77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37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F297234F-AFFE-6F4B-4529-426E599EE52E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6E37A15C-3EAE-5675-4B83-1CA55891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A74EE3FA-CD6A-9AD1-23EE-E32215A7D9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BDABC4B-F290-7E17-2B68-670A849246B8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Graficas grupales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AAFC90-3D73-6204-9E57-04DC65226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70" y="1103760"/>
            <a:ext cx="10878259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041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ED84-E00D-3022-AE8A-52D042C3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0600C44-0FB6-E7D4-DB4F-924F639D6DC1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38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180437CE-B455-C230-236B-64DE05568C5B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242F7A0A-7936-225F-3CDB-A3E44EC0E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E98D39F8-E0AA-51B1-7BEE-16423081E6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9C480D8-72EA-2954-5A8A-01C54DA6544F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Graficas grupales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F3D2B93-78E6-E14F-828E-5116C82BD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83" y="1222685"/>
            <a:ext cx="1087043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0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88B0D-F924-81D0-5058-8BC263105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: biselado 20">
            <a:extLst>
              <a:ext uri="{FF2B5EF4-FFF2-40B4-BE49-F238E27FC236}">
                <a16:creationId xmlns:a16="http://schemas.microsoft.com/office/drawing/2014/main" id="{04B1824A-663C-F57D-8E8C-F24A3BEA960A}"/>
              </a:ext>
            </a:extLst>
          </p:cNvPr>
          <p:cNvSpPr>
            <a:spLocks noChangeAspect="1"/>
          </p:cNvSpPr>
          <p:nvPr/>
        </p:nvSpPr>
        <p:spPr>
          <a:xfrm rot="19203730">
            <a:off x="1778914" y="6233043"/>
            <a:ext cx="727395" cy="727395"/>
          </a:xfrm>
          <a:prstGeom prst="bevel">
            <a:avLst>
              <a:gd name="adj" fmla="val 1765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: biselado 22">
            <a:extLst>
              <a:ext uri="{FF2B5EF4-FFF2-40B4-BE49-F238E27FC236}">
                <a16:creationId xmlns:a16="http://schemas.microsoft.com/office/drawing/2014/main" id="{832B7AFA-E17F-8338-A743-FF78F3A91020}"/>
              </a:ext>
            </a:extLst>
          </p:cNvPr>
          <p:cNvSpPr>
            <a:spLocks noChangeAspect="1"/>
          </p:cNvSpPr>
          <p:nvPr/>
        </p:nvSpPr>
        <p:spPr>
          <a:xfrm rot="20522095">
            <a:off x="6627056" y="5302028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: biselado 24">
            <a:extLst>
              <a:ext uri="{FF2B5EF4-FFF2-40B4-BE49-F238E27FC236}">
                <a16:creationId xmlns:a16="http://schemas.microsoft.com/office/drawing/2014/main" id="{23426646-9FB2-E166-4E69-F5F2DD46D409}"/>
              </a:ext>
            </a:extLst>
          </p:cNvPr>
          <p:cNvSpPr>
            <a:spLocks noChangeAspect="1"/>
          </p:cNvSpPr>
          <p:nvPr/>
        </p:nvSpPr>
        <p:spPr>
          <a:xfrm rot="21354980">
            <a:off x="5053660" y="994899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ángulo: biselado 26">
            <a:extLst>
              <a:ext uri="{FF2B5EF4-FFF2-40B4-BE49-F238E27FC236}">
                <a16:creationId xmlns:a16="http://schemas.microsoft.com/office/drawing/2014/main" id="{7B84C4EC-B5A7-C1DB-94A3-C1869FBBDC4F}"/>
              </a:ext>
            </a:extLst>
          </p:cNvPr>
          <p:cNvSpPr>
            <a:spLocks noChangeAspect="1"/>
          </p:cNvSpPr>
          <p:nvPr/>
        </p:nvSpPr>
        <p:spPr>
          <a:xfrm rot="1551404">
            <a:off x="9850204" y="1051184"/>
            <a:ext cx="582368" cy="582368"/>
          </a:xfrm>
          <a:prstGeom prst="bevel">
            <a:avLst>
              <a:gd name="adj" fmla="val 1765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: biselado 28">
            <a:extLst>
              <a:ext uri="{FF2B5EF4-FFF2-40B4-BE49-F238E27FC236}">
                <a16:creationId xmlns:a16="http://schemas.microsoft.com/office/drawing/2014/main" id="{F394F433-3036-83BC-D40A-C73AF2D612CE}"/>
              </a:ext>
            </a:extLst>
          </p:cNvPr>
          <p:cNvSpPr>
            <a:spLocks noChangeAspect="1"/>
          </p:cNvSpPr>
          <p:nvPr/>
        </p:nvSpPr>
        <p:spPr>
          <a:xfrm rot="21245635">
            <a:off x="11210819" y="5911825"/>
            <a:ext cx="892282" cy="892282"/>
          </a:xfrm>
          <a:prstGeom prst="bevel">
            <a:avLst>
              <a:gd name="adj" fmla="val 1765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: biselado 30">
            <a:extLst>
              <a:ext uri="{FF2B5EF4-FFF2-40B4-BE49-F238E27FC236}">
                <a16:creationId xmlns:a16="http://schemas.microsoft.com/office/drawing/2014/main" id="{1C8A8227-6800-1472-93D8-2ED900762800}"/>
              </a:ext>
            </a:extLst>
          </p:cNvPr>
          <p:cNvSpPr>
            <a:spLocks noChangeAspect="1"/>
          </p:cNvSpPr>
          <p:nvPr/>
        </p:nvSpPr>
        <p:spPr>
          <a:xfrm rot="20341349">
            <a:off x="11469540" y="1285252"/>
            <a:ext cx="892282" cy="892282"/>
          </a:xfrm>
          <a:prstGeom prst="bevel">
            <a:avLst>
              <a:gd name="adj" fmla="val 1765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: biselado 18">
            <a:extLst>
              <a:ext uri="{FF2B5EF4-FFF2-40B4-BE49-F238E27FC236}">
                <a16:creationId xmlns:a16="http://schemas.microsoft.com/office/drawing/2014/main" id="{4EE7B77F-0FFF-4445-0CD0-0189E33BC7EF}"/>
              </a:ext>
            </a:extLst>
          </p:cNvPr>
          <p:cNvSpPr/>
          <p:nvPr/>
        </p:nvSpPr>
        <p:spPr>
          <a:xfrm rot="1247275">
            <a:off x="238008" y="1316311"/>
            <a:ext cx="1042416" cy="1042416"/>
          </a:xfrm>
          <a:prstGeom prst="bevel">
            <a:avLst>
              <a:gd name="adj" fmla="val 1765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15C0E51-6356-A953-0F9D-CCE3CCB7380C}"/>
              </a:ext>
            </a:extLst>
          </p:cNvPr>
          <p:cNvSpPr/>
          <p:nvPr/>
        </p:nvSpPr>
        <p:spPr>
          <a:xfrm>
            <a:off x="0" y="0"/>
            <a:ext cx="12192000" cy="747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3CB915-1A94-5AC7-BD99-0E566DCC1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1" y="1999840"/>
            <a:ext cx="6731000" cy="3762320"/>
          </a:xfr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Contenido: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1.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2.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3.</a:t>
            </a:r>
          </a:p>
          <a:p>
            <a:r>
              <a:rPr lang="es-MX" b="1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4.</a:t>
            </a:r>
          </a:p>
          <a:p>
            <a:pPr marL="0" indent="0" algn="ctr">
              <a:buNone/>
            </a:pPr>
            <a:r>
              <a:rPr lang="es-MX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Modelos Híbridos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Futuras pruebas.</a:t>
            </a:r>
          </a:p>
          <a:p>
            <a:endParaRPr lang="es-MX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F8BBFA9-630F-A7F3-4145-DF7B35DE5322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Contenido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39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88CCFE4B-23E0-B7DA-2F7F-0C590E2BC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0" name="Imagen 9" descr="EHU - YouTube">
            <a:extLst>
              <a:ext uri="{FF2B5EF4-FFF2-40B4-BE49-F238E27FC236}">
                <a16:creationId xmlns:a16="http://schemas.microsoft.com/office/drawing/2014/main" id="{16E57B71-766A-6ED4-207A-2DA06F4D1C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pic>
        <p:nvPicPr>
          <p:cNvPr id="6" name="Imagen 5" descr="Foto en blanco y negro&#10;&#10;El contenido generado por IA puede ser incorrecto.">
            <a:extLst>
              <a:ext uri="{FF2B5EF4-FFF2-40B4-BE49-F238E27FC236}">
                <a16:creationId xmlns:a16="http://schemas.microsoft.com/office/drawing/2014/main" id="{D856C268-A18C-7040-CEDE-86EF4818E64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" t="6538" r="315"/>
          <a:stretch>
            <a:fillRect/>
          </a:stretch>
        </p:blipFill>
        <p:spPr bwMode="auto">
          <a:xfrm>
            <a:off x="8024363" y="2153000"/>
            <a:ext cx="3456000" cy="345600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7664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4C543-ED2E-DCD8-01B3-0E15F338F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A714103-D552-A892-DC78-FEBF6AD8CF22}"/>
              </a:ext>
            </a:extLst>
          </p:cNvPr>
          <p:cNvSpPr/>
          <p:nvPr/>
        </p:nvSpPr>
        <p:spPr>
          <a:xfrm>
            <a:off x="0" y="0"/>
            <a:ext cx="12192000" cy="747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6C07C6-ABF2-271C-D8E6-666CF00A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855439"/>
              </p:ext>
            </p:extLst>
          </p:nvPr>
        </p:nvGraphicFramePr>
        <p:xfrm>
          <a:off x="0" y="747260"/>
          <a:ext cx="12192000" cy="5846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8818227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891397287"/>
                    </a:ext>
                  </a:extLst>
                </a:gridCol>
              </a:tblGrid>
              <a:tr h="292329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275784"/>
                  </a:ext>
                </a:extLst>
              </a:tr>
              <a:tr h="292329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916545"/>
                  </a:ext>
                </a:extLst>
              </a:tr>
            </a:tbl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4E4B057C-3360-07BA-3E04-2982E2685DA9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122FE32-8004-75AA-4D5E-F1C5EC0AD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850" y="1000665"/>
            <a:ext cx="3009845" cy="24419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D038105-FE36-9498-9C4B-1FF657E89857}"/>
              </a:ext>
            </a:extLst>
          </p:cNvPr>
          <p:cNvSpPr txBox="1"/>
          <p:nvPr/>
        </p:nvSpPr>
        <p:spPr>
          <a:xfrm>
            <a:off x="4886960" y="3429000"/>
            <a:ext cx="241808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8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Motivación.</a:t>
            </a:r>
            <a:endParaRPr lang="es-MX" sz="28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A81887D-13B0-9670-F68A-4CCC19CE6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869860"/>
            <a:ext cx="2901209" cy="27035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35A4279-2AF9-FD0A-E96B-38C2863E8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628" y="1315323"/>
            <a:ext cx="2713524" cy="114552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4599E54-E941-F164-55EB-463C5FA7BFF1}"/>
              </a:ext>
            </a:extLst>
          </p:cNvPr>
          <p:cNvSpPr txBox="1"/>
          <p:nvPr/>
        </p:nvSpPr>
        <p:spPr>
          <a:xfrm>
            <a:off x="3213628" y="2547884"/>
            <a:ext cx="27127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Houssein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H.,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Abohashima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Z.,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Elhoseny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&amp; Mohamed, W. M. (2022).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quantum-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COVID-19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chest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X-ray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MX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s-MX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9(2), 343–363.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F7D1863-04DD-C677-EDC5-73E34D934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6678" y="1315323"/>
            <a:ext cx="2611813" cy="111600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ED5D7D9-337A-4A87-807E-D31D673D7543}"/>
              </a:ext>
            </a:extLst>
          </p:cNvPr>
          <p:cNvSpPr txBox="1"/>
          <p:nvPr/>
        </p:nvSpPr>
        <p:spPr>
          <a:xfrm>
            <a:off x="9427440" y="2721114"/>
            <a:ext cx="2611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Matic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A., Monnet, M., Lorenz, J. M.,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Schachtner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B., &amp;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Messerer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T. (2022). 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Quantum-</a:t>
            </a:r>
            <a:r>
              <a:rPr lang="es-MX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classical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MX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convolutional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neural </a:t>
            </a:r>
            <a:r>
              <a:rPr lang="es-MX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networks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in </a:t>
            </a:r>
            <a:r>
              <a:rPr lang="es-MX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radiological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MX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image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MX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classification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ArXiv.org. https://arxiv.org/abs/2204.12390</a:t>
            </a:r>
          </a:p>
          <a:p>
            <a:pPr algn="ctr">
              <a:buNone/>
            </a:pP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‌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24274180-FCDA-CE91-8DBC-B15E77192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295" y="4468545"/>
            <a:ext cx="2433385" cy="912519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C410806-ECD1-7C24-1D88-6BEA772A6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" y="3863332"/>
            <a:ext cx="2901209" cy="25222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7DFA1336-3EF7-2384-DC76-3F03AA46610A}"/>
              </a:ext>
            </a:extLst>
          </p:cNvPr>
          <p:cNvSpPr txBox="1"/>
          <p:nvPr/>
        </p:nvSpPr>
        <p:spPr>
          <a:xfrm>
            <a:off x="3213626" y="5481890"/>
            <a:ext cx="27127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Senokosov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A.,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Sedykh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A.,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Sagingalieva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A.,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Kyriacou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B., &amp;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Melnikov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A. (2024). Quantum machine learning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image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MX" sz="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classification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 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Machine Learning: </a:t>
            </a:r>
            <a:r>
              <a:rPr lang="es-MX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Science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and </a:t>
            </a:r>
            <a:r>
              <a:rPr lang="es-MX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Technology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s-MX" sz="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r>
              <a:rPr lang="es-MX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(1), 015040. ‌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838AD79D-12B8-BB68-7207-9A8A32C2C6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4850" y="5307898"/>
            <a:ext cx="3032230" cy="1219144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30879086-CC3F-D134-2A51-A076DDCEBE5D}"/>
              </a:ext>
            </a:extLst>
          </p:cNvPr>
          <p:cNvSpPr txBox="1"/>
          <p:nvPr/>
        </p:nvSpPr>
        <p:spPr>
          <a:xfrm>
            <a:off x="9427440" y="5774277"/>
            <a:ext cx="226314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D., Sun, Y., Yuan, Y., Hu, Z., Xiang, Q., Jiang, Y., Zhu, Y., Fu, Y., &amp; Hua, X. (2026). A quantum-inspired medical scalable convolutional neural network for Intelligent pneumonia diagnosis. Biomedical Signal Processing and Control, 112, 108440.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B1EFE657-8111-4C12-E800-5AF64158426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1960"/>
          <a:stretch>
            <a:fillRect/>
          </a:stretch>
        </p:blipFill>
        <p:spPr>
          <a:xfrm>
            <a:off x="8490444" y="3849657"/>
            <a:ext cx="3203887" cy="16930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321B48D6-50AD-5ACB-F4D5-D1C0353DFD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2132" y="4125450"/>
            <a:ext cx="1220142" cy="1056842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6E9E593-FD6D-BF8A-1280-CA39FF612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262950"/>
              </p:ext>
            </p:extLst>
          </p:nvPr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40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11" name="Imagen 10" descr="Bilbao-Barcelona Analysis and PDEs meeting">
            <a:extLst>
              <a:ext uri="{FF2B5EF4-FFF2-40B4-BE49-F238E27FC236}">
                <a16:creationId xmlns:a16="http://schemas.microsoft.com/office/drawing/2014/main" id="{44C52D5F-4691-A692-EA44-086CBE30D1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3" name="Imagen 12" descr="EHU - YouTube">
            <a:extLst>
              <a:ext uri="{FF2B5EF4-FFF2-40B4-BE49-F238E27FC236}">
                <a16:creationId xmlns:a16="http://schemas.microsoft.com/office/drawing/2014/main" id="{B94CF434-B40A-490F-C750-9F3226FBB45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35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77BB-52D9-119F-B483-07459205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833B9C4-7437-CD65-9B75-49124564C73C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41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639D5624-CD82-26AF-61F2-B158A597D719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32D6C099-C23F-A4D0-75CB-E558087E0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E94F9E3A-FB31-03DF-7879-3CF256D33B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C33F5EB-7A9E-6AB7-E871-966EFFCA8647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800" b="1" dirty="0"/>
              <a:t>Modelos Híbridos para imágenes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F86BA5F-74D0-508D-12F0-C81AF137ED0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08760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028954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792334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238564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7074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>
                          <a:solidFill>
                            <a:schemeClr val="bg1"/>
                          </a:solidFill>
                        </a:rPr>
                        <a:t>Notebook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>
                          <a:solidFill>
                            <a:schemeClr val="bg1"/>
                          </a:solidFill>
                        </a:rPr>
                        <a:t>Arquitectura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>
                          <a:solidFill>
                            <a:schemeClr val="bg1"/>
                          </a:solidFill>
                        </a:rPr>
                        <a:t>Extracción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>
                          <a:solidFill>
                            <a:schemeClr val="bg1"/>
                          </a:solidFill>
                        </a:rPr>
                        <a:t>Clasificador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01_CNN_MLP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MLP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62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02_CNN_z3_SU2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CNN (z =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QNN SU(2)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071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03_CNN_z15_SU4_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CNN (z = 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QNN SU(4)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60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04_MSHQCNN_MLP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MLP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156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05_MSHQCNN_z3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 (z =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QNN SU(2)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48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06_MSHQCNN_z15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 (z = 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QNN SU(4)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5402867"/>
                  </a:ext>
                </a:extLst>
              </a:tr>
            </a:tbl>
          </a:graphicData>
        </a:graphic>
      </p:graphicFrame>
      <p:pic>
        <p:nvPicPr>
          <p:cNvPr id="19" name="Imagen 18">
            <a:extLst>
              <a:ext uri="{FF2B5EF4-FFF2-40B4-BE49-F238E27FC236}">
                <a16:creationId xmlns:a16="http://schemas.microsoft.com/office/drawing/2014/main" id="{CA2D7548-47F5-309E-2BCB-9C50578EA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93" y="4310306"/>
            <a:ext cx="10508891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706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1ED3-BB0F-FC0D-AF79-DA14AF37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6C24F73-8C07-AE80-5756-240CA154A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38939"/>
              </p:ext>
            </p:extLst>
          </p:nvPr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42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9660F10C-4CA8-7CD9-AC21-6C763F1DA67B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B4FD9C49-4DF8-7A27-8FBD-527CB552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0600AC24-CE2B-CF54-3B7E-8A76C108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C453C4D-9D63-5AD6-0328-5951DA45B194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Rendimiento en test (umbral base)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D8ADEA6F-B80A-E2EA-F808-41B9F26DA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64927"/>
              </p:ext>
            </p:extLst>
          </p:nvPr>
        </p:nvGraphicFramePr>
        <p:xfrm>
          <a:off x="811244" y="1304309"/>
          <a:ext cx="10401040" cy="428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0196">
                  <a:extLst>
                    <a:ext uri="{9D8B030D-6E8A-4147-A177-3AD203B41FA5}">
                      <a16:colId xmlns:a16="http://schemas.microsoft.com/office/drawing/2014/main" val="2389531656"/>
                    </a:ext>
                  </a:extLst>
                </a:gridCol>
                <a:gridCol w="2550160">
                  <a:extLst>
                    <a:ext uri="{9D8B030D-6E8A-4147-A177-3AD203B41FA5}">
                      <a16:colId xmlns:a16="http://schemas.microsoft.com/office/drawing/2014/main" val="2195964402"/>
                    </a:ext>
                  </a:extLst>
                </a:gridCol>
                <a:gridCol w="800034">
                  <a:extLst>
                    <a:ext uri="{9D8B030D-6E8A-4147-A177-3AD203B41FA5}">
                      <a16:colId xmlns:a16="http://schemas.microsoft.com/office/drawing/2014/main" val="2146576446"/>
                    </a:ext>
                  </a:extLst>
                </a:gridCol>
                <a:gridCol w="1300130">
                  <a:extLst>
                    <a:ext uri="{9D8B030D-6E8A-4147-A177-3AD203B41FA5}">
                      <a16:colId xmlns:a16="http://schemas.microsoft.com/office/drawing/2014/main" val="801680018"/>
                    </a:ext>
                  </a:extLst>
                </a:gridCol>
                <a:gridCol w="1300130">
                  <a:extLst>
                    <a:ext uri="{9D8B030D-6E8A-4147-A177-3AD203B41FA5}">
                      <a16:colId xmlns:a16="http://schemas.microsoft.com/office/drawing/2014/main" val="2315118187"/>
                    </a:ext>
                  </a:extLst>
                </a:gridCol>
                <a:gridCol w="1300130">
                  <a:extLst>
                    <a:ext uri="{9D8B030D-6E8A-4147-A177-3AD203B41FA5}">
                      <a16:colId xmlns:a16="http://schemas.microsoft.com/office/drawing/2014/main" val="3852030682"/>
                    </a:ext>
                  </a:extLst>
                </a:gridCol>
                <a:gridCol w="1300130">
                  <a:extLst>
                    <a:ext uri="{9D8B030D-6E8A-4147-A177-3AD203B41FA5}">
                      <a16:colId xmlns:a16="http://schemas.microsoft.com/office/drawing/2014/main" val="2401353997"/>
                    </a:ext>
                  </a:extLst>
                </a:gridCol>
                <a:gridCol w="1300130">
                  <a:extLst>
                    <a:ext uri="{9D8B030D-6E8A-4147-A177-3AD203B41FA5}">
                      <a16:colId xmlns:a16="http://schemas.microsoft.com/office/drawing/2014/main" val="356463677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 err="1">
                          <a:solidFill>
                            <a:schemeClr val="bg1"/>
                          </a:solidFill>
                        </a:rPr>
                        <a:t>Nº</a:t>
                      </a:r>
                      <a:endParaRPr lang="es-MX" sz="1300" b="1" dirty="0">
                        <a:solidFill>
                          <a:schemeClr val="bg1"/>
                        </a:solidFill>
                      </a:endParaRPr>
                    </a:p>
                  </a:txBody>
                  <a:tcPr marL="64945" marR="64945" marT="32473" marB="3247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>
                          <a:solidFill>
                            <a:schemeClr val="bg1"/>
                          </a:solidFill>
                        </a:rPr>
                        <a:t>Modelo</a:t>
                      </a:r>
                    </a:p>
                  </a:txBody>
                  <a:tcPr marL="64945" marR="64945" marT="32473" marB="3247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>
                          <a:solidFill>
                            <a:schemeClr val="bg1"/>
                          </a:solidFill>
                        </a:rPr>
                        <a:t>Loss</a:t>
                      </a:r>
                    </a:p>
                  </a:txBody>
                  <a:tcPr marL="64945" marR="64945" marT="32473" marB="3247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>
                          <a:solidFill>
                            <a:schemeClr val="bg1"/>
                          </a:solidFill>
                        </a:rPr>
                        <a:t>AUC</a:t>
                      </a:r>
                    </a:p>
                  </a:txBody>
                  <a:tcPr marL="64945" marR="64945" marT="32473" marB="3247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>
                          <a:solidFill>
                            <a:schemeClr val="bg1"/>
                          </a:solidFill>
                        </a:rPr>
                        <a:t>PR-AUC</a:t>
                      </a:r>
                    </a:p>
                  </a:txBody>
                  <a:tcPr marL="64945" marR="64945" marT="32473" marB="3247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64945" marR="64945" marT="32473" marB="3247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64945" marR="64945" marT="32473" marB="3247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 err="1">
                          <a:solidFill>
                            <a:schemeClr val="bg1"/>
                          </a:solidFill>
                        </a:rPr>
                        <a:t>Balanced</a:t>
                      </a:r>
                      <a:r>
                        <a:rPr lang="es-MX" sz="1300" b="1" dirty="0">
                          <a:solidFill>
                            <a:schemeClr val="bg1"/>
                          </a:solidFill>
                        </a:rPr>
                        <a:t> Accuracy</a:t>
                      </a:r>
                    </a:p>
                  </a:txBody>
                  <a:tcPr marL="64945" marR="64945" marT="32473" marB="3247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795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01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300" dirty="0"/>
                        <a:t>CNN → MLP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0.0332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0.9989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0.9977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98.68%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97.67%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98.61%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407889581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300" dirty="0"/>
                        <a:t>CNN → z3 → QNN SU(2)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0.0330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0.9990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0.9979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99.12%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98.44%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98.91%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75706645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03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300" dirty="0"/>
                        <a:t>CNN → z15 → QNN SU(4)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/>
                        <a:t>0.0273</a:t>
                      </a:r>
                      <a:endParaRPr lang="es-MX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/>
                        <a:t>0.9996</a:t>
                      </a:r>
                      <a:endParaRPr lang="es-MX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/>
                        <a:t>0.9991</a:t>
                      </a:r>
                      <a:endParaRPr lang="es-MX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/>
                        <a:t>99.34%</a:t>
                      </a:r>
                      <a:endParaRPr lang="es-MX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/>
                        <a:t>98.82%</a:t>
                      </a:r>
                      <a:endParaRPr lang="es-MX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/>
                        <a:t>99.07%</a:t>
                      </a:r>
                      <a:endParaRPr lang="es-MX" sz="1300"/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48159771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04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300" dirty="0"/>
                        <a:t>MS-HQCNN → MLP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0.0631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0.9981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0.9950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96.93%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94.31%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95.01%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72977991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05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300" dirty="0"/>
                        <a:t>MS-HQCNN → z3 → QNN SU(2)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0.0848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dirty="0"/>
                        <a:t>0.9986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0.9965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96.93%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94.31%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95.01%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45867423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06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300" dirty="0"/>
                        <a:t>MS-HQCNN → z15 → QNN SU(4)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0.0825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0.9981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/>
                        <a:t>0.9953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/>
                        <a:t>98.03%</a:t>
                      </a:r>
                      <a:endParaRPr lang="es-MX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/>
                        <a:t>96.41%</a:t>
                      </a:r>
                      <a:endParaRPr lang="es-MX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300" b="1" dirty="0"/>
                        <a:t>96.96%</a:t>
                      </a:r>
                      <a:endParaRPr lang="es-MX" sz="1300" dirty="0"/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4036897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7558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CBC0-8C71-8ACD-4076-5C1C8709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1B4B623-9DC4-A12E-5FE2-C6641A56C459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43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800AB0AF-5CCE-F80F-B735-670FD317A1B4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CF77C0B6-E900-6169-7997-A77DB0B93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90C02833-FF98-BE2D-D1B9-F8A751A89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449ADF7-AC8A-3918-B755-4E57D266E6EB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Número de parámetros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A34456BB-51FF-4465-2D72-ECE283169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034780"/>
              </p:ext>
            </p:extLst>
          </p:nvPr>
        </p:nvGraphicFramePr>
        <p:xfrm>
          <a:off x="137337" y="1261574"/>
          <a:ext cx="11917325" cy="25364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83605">
                  <a:extLst>
                    <a:ext uri="{9D8B030D-6E8A-4147-A177-3AD203B41FA5}">
                      <a16:colId xmlns:a16="http://schemas.microsoft.com/office/drawing/2014/main" val="3472537461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296642203"/>
                    </a:ext>
                  </a:extLst>
                </a:gridCol>
                <a:gridCol w="1567260">
                  <a:extLst>
                    <a:ext uri="{9D8B030D-6E8A-4147-A177-3AD203B41FA5}">
                      <a16:colId xmlns:a16="http://schemas.microsoft.com/office/drawing/2014/main" val="1237178782"/>
                    </a:ext>
                  </a:extLst>
                </a:gridCol>
                <a:gridCol w="1702475">
                  <a:extLst>
                    <a:ext uri="{9D8B030D-6E8A-4147-A177-3AD203B41FA5}">
                      <a16:colId xmlns:a16="http://schemas.microsoft.com/office/drawing/2014/main" val="1990110646"/>
                    </a:ext>
                  </a:extLst>
                </a:gridCol>
                <a:gridCol w="1702475">
                  <a:extLst>
                    <a:ext uri="{9D8B030D-6E8A-4147-A177-3AD203B41FA5}">
                      <a16:colId xmlns:a16="http://schemas.microsoft.com/office/drawing/2014/main" val="2251915533"/>
                    </a:ext>
                  </a:extLst>
                </a:gridCol>
                <a:gridCol w="1702475">
                  <a:extLst>
                    <a:ext uri="{9D8B030D-6E8A-4147-A177-3AD203B41FA5}">
                      <a16:colId xmlns:a16="http://schemas.microsoft.com/office/drawing/2014/main" val="1786091665"/>
                    </a:ext>
                  </a:extLst>
                </a:gridCol>
                <a:gridCol w="1702475">
                  <a:extLst>
                    <a:ext uri="{9D8B030D-6E8A-4147-A177-3AD203B41FA5}">
                      <a16:colId xmlns:a16="http://schemas.microsoft.com/office/drawing/2014/main" val="2891076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Nº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Modelo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Parámetros totales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Parámetros clásicos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Parámetros cuánticos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Q. Extractor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dirty="0"/>
                        <a:t>Q. Clasificador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61898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CNN → MLP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/>
                        <a:t>39,377</a:t>
                      </a:r>
                      <a:endParaRPr lang="es-MX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/>
                        <a:t>39,377</a:t>
                      </a:r>
                      <a:endParaRPr lang="es-MX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63590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CNN → z3 → QNN SU(2)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35,141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35,123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18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18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55331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CNN → z15 → QNN SU(4)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35,624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35,519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/>
                        <a:t>105</a:t>
                      </a:r>
                      <a:endParaRPr lang="es-MX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/>
                        <a:t>105</a:t>
                      </a:r>
                      <a:endParaRPr lang="es-MX" sz="160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544919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MS-HQCNN → MLP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6,297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6,249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48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/>
                        <a:t>48</a:t>
                      </a:r>
                      <a:endParaRPr lang="es-MX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3215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MS-HQCNN → z3 → QNN SU(2)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/>
                        <a:t>976</a:t>
                      </a:r>
                      <a:endParaRPr lang="es-MX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/>
                        <a:t>910</a:t>
                      </a:r>
                      <a:endParaRPr lang="es-MX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66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48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18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0561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06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MS-HQCNN → z15 → QNN SU(4)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1,471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1,318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153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/>
                        <a:t>48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600" b="1" dirty="0"/>
                        <a:t>105</a:t>
                      </a:r>
                      <a:endParaRPr lang="es-MX" sz="160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06397966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1A3E01BB-AE25-45D7-818D-A73CDEBE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620728"/>
              </p:ext>
            </p:extLst>
          </p:nvPr>
        </p:nvGraphicFramePr>
        <p:xfrm>
          <a:off x="777627" y="3943440"/>
          <a:ext cx="10636743" cy="25603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545581">
                  <a:extLst>
                    <a:ext uri="{9D8B030D-6E8A-4147-A177-3AD203B41FA5}">
                      <a16:colId xmlns:a16="http://schemas.microsoft.com/office/drawing/2014/main" val="2531911838"/>
                    </a:ext>
                  </a:extLst>
                </a:gridCol>
                <a:gridCol w="3545581">
                  <a:extLst>
                    <a:ext uri="{9D8B030D-6E8A-4147-A177-3AD203B41FA5}">
                      <a16:colId xmlns:a16="http://schemas.microsoft.com/office/drawing/2014/main" val="869512739"/>
                    </a:ext>
                  </a:extLst>
                </a:gridCol>
                <a:gridCol w="3545581">
                  <a:extLst>
                    <a:ext uri="{9D8B030D-6E8A-4147-A177-3AD203B41FA5}">
                      <a16:colId xmlns:a16="http://schemas.microsoft.com/office/drawing/2014/main" val="2094303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Familia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Parámetros totales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Reducción respecto a CNN → MLP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946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CNN → MLP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39,377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57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CNN → z3 → SU(2)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35,141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10.8 %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06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CNN → z15 → SU(4)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35,624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9.5 %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90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 → MLP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6,297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84.0 %</a:t>
                      </a:r>
                      <a:endParaRPr lang="es-MX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119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 → z3 → SU(2)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976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97.5 %</a:t>
                      </a:r>
                      <a:endParaRPr lang="es-MX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164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MS-HQCNN → z15 → SU(4)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/>
                        <a:t>1,471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96.3 %</a:t>
                      </a:r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27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2784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E986-73CB-30BB-5448-0071A0A3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A3CD006-F961-2641-66D8-4F077B644CFD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44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40F2E96D-BD92-BB1C-D2F8-A6C35D4ABCED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E97ECA9E-E21C-3ED4-76AA-050ECFDB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21B9C023-46E2-3A0E-A5DA-4B3EE6CF2A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EEB5133-67BD-06FC-AF97-7C32436B9DC7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01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2A22A1-B3EA-EC9C-B159-4C0B4040F2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489" y="1262880"/>
            <a:ext cx="59303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24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B14E-E7FF-6FDA-357D-0AB2E0A82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2B041EE-9BCF-C45E-7A7F-E13CA721D8A3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45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A0BEF8CB-1B8C-17E8-EAAE-39C3D5E9A70D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773FD34A-BEA6-D795-08F2-06A4311CA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26C557E7-1CB5-0813-6599-052A903047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48E27AA-5CBD-4CEA-CF5E-901BAA9E4917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02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AD9C28-F406-B50A-89FE-A4667244F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897" y="1262880"/>
            <a:ext cx="593548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2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4468-8BF1-863B-82DA-A6A28C01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41BC92A-AD5F-3EE5-5D6F-39D55866B201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46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0F0E2251-02BD-3B54-3BFE-2039A0AAFB3B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F84DE148-BBF2-091A-4ACE-7DDDA394A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E9A4C3B0-4551-6FF6-1CF3-50E436A8A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4F317C5-5E55-0918-4D2B-24EBE57C1BD5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03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E9DF81-C247-C9C3-37AF-6B9629C6DA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72" y="1265760"/>
            <a:ext cx="594773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152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ECA19-49E2-1875-50EB-B8D92FFD4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E0F6FE6-AAF7-0566-A526-8E8B60C8EA1A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47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F7899A8F-CD2D-56B4-3933-73E3A61E321A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8034F3E2-6D57-92ED-77B9-CF0F38EB8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8BE6BF6C-3B8C-AEE8-E6CB-B69613ED8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8D6D241-740B-9981-5B98-1317BCE722A7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04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EA10C9-BCF0-332B-EBD9-B541F51FF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514" y="1265760"/>
            <a:ext cx="590625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438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92C2-F81A-7082-1464-DD2416B6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CA4F321-0F33-6F6F-C22E-DFBF06DBC47C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48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CC97C100-160F-B5EC-8252-6C4F70EF97F6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C46753E0-35F6-0646-9317-C8890B067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E1768B96-363E-76A0-427E-A62949741A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BE49B79-B3EB-3C0B-362C-14EAFEA53A48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05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D447BF0-7AA2-26D4-2834-136F86DEE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189" y="1262880"/>
            <a:ext cx="5910899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028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E6612-0D73-D6ED-3093-EB8B7F3B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E7615C0-109C-7C9B-D7F6-BA30DB9B90AE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Experimento 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49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EAD1D87A-93EF-DE77-B303-484769AB43C3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E60EF09F-32C9-D565-C463-2DFEAA643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4A4E4725-3081-E12D-05D8-714CFFD1F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A17ADAD-DF22-7390-5736-AB37BB020D60}"/>
              </a:ext>
            </a:extLst>
          </p:cNvPr>
          <p:cNvSpPr txBox="1"/>
          <p:nvPr/>
        </p:nvSpPr>
        <p:spPr>
          <a:xfrm>
            <a:off x="1367124" y="641270"/>
            <a:ext cx="90310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06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DFBCC6-1B08-AEF0-8DF7-A9928A347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041" y="1262880"/>
            <a:ext cx="594319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93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25529-648B-D092-C98A-ED30ADA1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: biselado 39">
            <a:extLst>
              <a:ext uri="{FF2B5EF4-FFF2-40B4-BE49-F238E27FC236}">
                <a16:creationId xmlns:a16="http://schemas.microsoft.com/office/drawing/2014/main" id="{95662EE3-8A04-424F-0420-CFDDE3E3F205}"/>
              </a:ext>
            </a:extLst>
          </p:cNvPr>
          <p:cNvSpPr>
            <a:spLocks noChangeAspect="1"/>
          </p:cNvSpPr>
          <p:nvPr/>
        </p:nvSpPr>
        <p:spPr>
          <a:xfrm rot="19203730">
            <a:off x="1778914" y="6233043"/>
            <a:ext cx="727395" cy="727395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: biselado 41">
            <a:extLst>
              <a:ext uri="{FF2B5EF4-FFF2-40B4-BE49-F238E27FC236}">
                <a16:creationId xmlns:a16="http://schemas.microsoft.com/office/drawing/2014/main" id="{221A124A-A597-55D2-786C-AA275639A226}"/>
              </a:ext>
            </a:extLst>
          </p:cNvPr>
          <p:cNvSpPr>
            <a:spLocks noChangeAspect="1"/>
          </p:cNvSpPr>
          <p:nvPr/>
        </p:nvSpPr>
        <p:spPr>
          <a:xfrm rot="20522095">
            <a:off x="6627056" y="5302028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Rectángulo: biselado 43">
            <a:extLst>
              <a:ext uri="{FF2B5EF4-FFF2-40B4-BE49-F238E27FC236}">
                <a16:creationId xmlns:a16="http://schemas.microsoft.com/office/drawing/2014/main" id="{61A432D0-ACB2-F0C8-7E0D-834808A3907F}"/>
              </a:ext>
            </a:extLst>
          </p:cNvPr>
          <p:cNvSpPr>
            <a:spLocks noChangeAspect="1"/>
          </p:cNvSpPr>
          <p:nvPr/>
        </p:nvSpPr>
        <p:spPr>
          <a:xfrm rot="21354980">
            <a:off x="5053660" y="994899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: biselado 45">
            <a:extLst>
              <a:ext uri="{FF2B5EF4-FFF2-40B4-BE49-F238E27FC236}">
                <a16:creationId xmlns:a16="http://schemas.microsoft.com/office/drawing/2014/main" id="{7AD7E2EA-7C40-3427-A4DF-19199E91A6D4}"/>
              </a:ext>
            </a:extLst>
          </p:cNvPr>
          <p:cNvSpPr>
            <a:spLocks noChangeAspect="1"/>
          </p:cNvSpPr>
          <p:nvPr/>
        </p:nvSpPr>
        <p:spPr>
          <a:xfrm rot="1551404">
            <a:off x="9850204" y="1051184"/>
            <a:ext cx="582368" cy="582368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Rectángulo: biselado 47">
            <a:extLst>
              <a:ext uri="{FF2B5EF4-FFF2-40B4-BE49-F238E27FC236}">
                <a16:creationId xmlns:a16="http://schemas.microsoft.com/office/drawing/2014/main" id="{40FC4812-4248-4CD5-B4E5-2D49F34BE335}"/>
              </a:ext>
            </a:extLst>
          </p:cNvPr>
          <p:cNvSpPr>
            <a:spLocks noChangeAspect="1"/>
          </p:cNvSpPr>
          <p:nvPr/>
        </p:nvSpPr>
        <p:spPr>
          <a:xfrm rot="21245635">
            <a:off x="11210819" y="5911825"/>
            <a:ext cx="892282" cy="89228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Rectángulo: biselado 49">
            <a:extLst>
              <a:ext uri="{FF2B5EF4-FFF2-40B4-BE49-F238E27FC236}">
                <a16:creationId xmlns:a16="http://schemas.microsoft.com/office/drawing/2014/main" id="{DC120F84-7F26-1E35-A814-03311BB85D8D}"/>
              </a:ext>
            </a:extLst>
          </p:cNvPr>
          <p:cNvSpPr>
            <a:spLocks noChangeAspect="1"/>
          </p:cNvSpPr>
          <p:nvPr/>
        </p:nvSpPr>
        <p:spPr>
          <a:xfrm rot="20341349">
            <a:off x="11469540" y="1285252"/>
            <a:ext cx="892282" cy="89228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Rectángulo: biselado 51">
            <a:extLst>
              <a:ext uri="{FF2B5EF4-FFF2-40B4-BE49-F238E27FC236}">
                <a16:creationId xmlns:a16="http://schemas.microsoft.com/office/drawing/2014/main" id="{6752046E-3BB9-DD32-84AA-17B76A6D288A}"/>
              </a:ext>
            </a:extLst>
          </p:cNvPr>
          <p:cNvSpPr/>
          <p:nvPr/>
        </p:nvSpPr>
        <p:spPr>
          <a:xfrm rot="1247275">
            <a:off x="238008" y="1316311"/>
            <a:ext cx="1042416" cy="1042416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4" name="Rectángulo: biselado 53">
            <a:extLst>
              <a:ext uri="{FF2B5EF4-FFF2-40B4-BE49-F238E27FC236}">
                <a16:creationId xmlns:a16="http://schemas.microsoft.com/office/drawing/2014/main" id="{F9B985EA-065B-6C9C-BF7C-4C564B85CA8C}"/>
              </a:ext>
            </a:extLst>
          </p:cNvPr>
          <p:cNvSpPr>
            <a:spLocks noChangeAspect="1"/>
          </p:cNvSpPr>
          <p:nvPr/>
        </p:nvSpPr>
        <p:spPr>
          <a:xfrm rot="1804759">
            <a:off x="-404064" y="3207635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" name="Rectángulo: biselado 55">
            <a:extLst>
              <a:ext uri="{FF2B5EF4-FFF2-40B4-BE49-F238E27FC236}">
                <a16:creationId xmlns:a16="http://schemas.microsoft.com/office/drawing/2014/main" id="{756EA488-91CA-856B-3D6B-F08D168588C9}"/>
              </a:ext>
            </a:extLst>
          </p:cNvPr>
          <p:cNvSpPr>
            <a:spLocks noChangeAspect="1"/>
          </p:cNvSpPr>
          <p:nvPr/>
        </p:nvSpPr>
        <p:spPr>
          <a:xfrm rot="2528299">
            <a:off x="4179699" y="3817432"/>
            <a:ext cx="892282" cy="89228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8" name="Rectángulo: biselado 57">
            <a:extLst>
              <a:ext uri="{FF2B5EF4-FFF2-40B4-BE49-F238E27FC236}">
                <a16:creationId xmlns:a16="http://schemas.microsoft.com/office/drawing/2014/main" id="{53BFF876-F23E-B1F8-5BB5-2345F51BEA0F}"/>
              </a:ext>
            </a:extLst>
          </p:cNvPr>
          <p:cNvSpPr>
            <a:spLocks noChangeAspect="1"/>
          </p:cNvSpPr>
          <p:nvPr/>
        </p:nvSpPr>
        <p:spPr>
          <a:xfrm rot="2637644">
            <a:off x="6598963" y="2537251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Rectángulo: biselado 59">
            <a:extLst>
              <a:ext uri="{FF2B5EF4-FFF2-40B4-BE49-F238E27FC236}">
                <a16:creationId xmlns:a16="http://schemas.microsoft.com/office/drawing/2014/main" id="{5E7FDE5E-C993-9A63-6ED1-53A7596BDFEF}"/>
              </a:ext>
            </a:extLst>
          </p:cNvPr>
          <p:cNvSpPr>
            <a:spLocks noChangeAspect="1"/>
          </p:cNvSpPr>
          <p:nvPr/>
        </p:nvSpPr>
        <p:spPr>
          <a:xfrm rot="4434068">
            <a:off x="11395507" y="2593536"/>
            <a:ext cx="582368" cy="582368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: biselado 61">
            <a:extLst>
              <a:ext uri="{FF2B5EF4-FFF2-40B4-BE49-F238E27FC236}">
                <a16:creationId xmlns:a16="http://schemas.microsoft.com/office/drawing/2014/main" id="{8AA6F357-F6B8-6C8D-A72B-75F89EF8C84A}"/>
              </a:ext>
            </a:extLst>
          </p:cNvPr>
          <p:cNvSpPr/>
          <p:nvPr/>
        </p:nvSpPr>
        <p:spPr>
          <a:xfrm rot="4129939">
            <a:off x="1783311" y="2858663"/>
            <a:ext cx="1042416" cy="1042416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4BAAA9-F462-8C6F-7A19-D135D0DDABEE}"/>
              </a:ext>
            </a:extLst>
          </p:cNvPr>
          <p:cNvSpPr/>
          <p:nvPr/>
        </p:nvSpPr>
        <p:spPr>
          <a:xfrm>
            <a:off x="0" y="0"/>
            <a:ext cx="12192000" cy="747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8A4505-B0E2-6926-32F2-0C44D005A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1" y="1999840"/>
            <a:ext cx="6731000" cy="3267925"/>
          </a:xfr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Contenido: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1.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2.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3.</a:t>
            </a:r>
          </a:p>
          <a:p>
            <a:r>
              <a:rPr lang="es-MX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Experimento 4.</a:t>
            </a:r>
          </a:p>
          <a:p>
            <a:r>
              <a:rPr lang="es-MX" b="1" dirty="0">
                <a:latin typeface="Cambria Math" panose="02040503050406030204" pitchFamily="18" charset="0"/>
                <a:ea typeface="Cambria Math" panose="02040503050406030204" pitchFamily="18" charset="0"/>
              </a:rPr>
              <a:t>Futuras pruebas.</a:t>
            </a:r>
          </a:p>
          <a:p>
            <a:endParaRPr lang="es-MX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60A04DF-994C-70DE-26F7-828ABD8162B7}"/>
              </a:ext>
            </a:extLst>
          </p:cNvPr>
          <p:cNvGraphicFramePr>
            <a:graphicFrameLocks noGrp="1"/>
          </p:cNvGraphicFramePr>
          <p:nvPr/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Contenido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50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CFCA5FA9-843E-34D8-C643-088CA50D7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0" name="Imagen 9" descr="EHU - YouTube">
            <a:extLst>
              <a:ext uri="{FF2B5EF4-FFF2-40B4-BE49-F238E27FC236}">
                <a16:creationId xmlns:a16="http://schemas.microsoft.com/office/drawing/2014/main" id="{A135849F-F82B-67DC-A1C6-D471896A8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073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E7A6B-C85E-C7BE-284A-05EF509D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E0C9F1A-4ED2-2EEF-04FF-9FD7A3430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697949"/>
              </p:ext>
            </p:extLst>
          </p:nvPr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796544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Futuras pruebas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51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1817E7BF-B0C5-EDCF-7A3D-B23FC4E22D08}"/>
              </a:ext>
            </a:extLst>
          </p:cNvPr>
          <p:cNvSpPr/>
          <p:nvPr/>
        </p:nvSpPr>
        <p:spPr>
          <a:xfrm>
            <a:off x="0" y="6680880"/>
            <a:ext cx="12192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Bilbao-Barcelona Analysis and PDEs meeting">
            <a:extLst>
              <a:ext uri="{FF2B5EF4-FFF2-40B4-BE49-F238E27FC236}">
                <a16:creationId xmlns:a16="http://schemas.microsoft.com/office/drawing/2014/main" id="{93EB4FDF-208C-C299-F03D-0CBDC5B86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A143C2E9-A5B0-15A1-6161-B8BE7E0C5E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E8EF8DF-2B43-C90B-1FFA-1452B261B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0"/>
          <a:stretch>
            <a:fillRect/>
          </a:stretch>
        </p:blipFill>
        <p:spPr>
          <a:xfrm>
            <a:off x="619288" y="5029200"/>
            <a:ext cx="10988992" cy="129601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79AECE5-2937-8064-15FD-4E56DB4D9F1C}"/>
              </a:ext>
            </a:extLst>
          </p:cNvPr>
          <p:cNvSpPr txBox="1"/>
          <p:nvPr/>
        </p:nvSpPr>
        <p:spPr>
          <a:xfrm>
            <a:off x="1861824" y="898544"/>
            <a:ext cx="8503920" cy="2862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Modelos híbridos con NQK tanto SU(2) como SU(4)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Probar más conjuntos de imágenes.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Probar más semillas para validar resultados.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Explorar congelar las convoluciones.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Implementar los bloques de SU(4) a los modelos Híbridos.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Comparar con la literatura.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Identificar ventajas de cada modelo.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698989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C730E-9587-D027-C7BB-9D9338E6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: biselado 15">
            <a:extLst>
              <a:ext uri="{FF2B5EF4-FFF2-40B4-BE49-F238E27FC236}">
                <a16:creationId xmlns:a16="http://schemas.microsoft.com/office/drawing/2014/main" id="{379EB21E-1093-9959-93B3-DFEEC58FEB9E}"/>
              </a:ext>
            </a:extLst>
          </p:cNvPr>
          <p:cNvSpPr>
            <a:spLocks noChangeAspect="1"/>
          </p:cNvSpPr>
          <p:nvPr/>
        </p:nvSpPr>
        <p:spPr>
          <a:xfrm rot="19203730">
            <a:off x="1778914" y="6233043"/>
            <a:ext cx="727395" cy="727395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: biselado 17">
            <a:extLst>
              <a:ext uri="{FF2B5EF4-FFF2-40B4-BE49-F238E27FC236}">
                <a16:creationId xmlns:a16="http://schemas.microsoft.com/office/drawing/2014/main" id="{824ED3C3-E916-9D58-26D8-FB5C68AA6880}"/>
              </a:ext>
            </a:extLst>
          </p:cNvPr>
          <p:cNvSpPr>
            <a:spLocks noChangeAspect="1"/>
          </p:cNvSpPr>
          <p:nvPr/>
        </p:nvSpPr>
        <p:spPr>
          <a:xfrm rot="20522095">
            <a:off x="6627056" y="5302028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: biselado 19">
            <a:extLst>
              <a:ext uri="{FF2B5EF4-FFF2-40B4-BE49-F238E27FC236}">
                <a16:creationId xmlns:a16="http://schemas.microsoft.com/office/drawing/2014/main" id="{9678ED1D-C5B3-E18B-7517-F6C70DF31796}"/>
              </a:ext>
            </a:extLst>
          </p:cNvPr>
          <p:cNvSpPr>
            <a:spLocks noChangeAspect="1"/>
          </p:cNvSpPr>
          <p:nvPr/>
        </p:nvSpPr>
        <p:spPr>
          <a:xfrm rot="21354980">
            <a:off x="5053660" y="994899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: biselado 21">
            <a:extLst>
              <a:ext uri="{FF2B5EF4-FFF2-40B4-BE49-F238E27FC236}">
                <a16:creationId xmlns:a16="http://schemas.microsoft.com/office/drawing/2014/main" id="{FE9EF84D-8B48-BF8C-0F0A-F19D5C679432}"/>
              </a:ext>
            </a:extLst>
          </p:cNvPr>
          <p:cNvSpPr>
            <a:spLocks noChangeAspect="1"/>
          </p:cNvSpPr>
          <p:nvPr/>
        </p:nvSpPr>
        <p:spPr>
          <a:xfrm rot="1551404">
            <a:off x="9850204" y="1051184"/>
            <a:ext cx="582368" cy="582368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: biselado 23">
            <a:extLst>
              <a:ext uri="{FF2B5EF4-FFF2-40B4-BE49-F238E27FC236}">
                <a16:creationId xmlns:a16="http://schemas.microsoft.com/office/drawing/2014/main" id="{4E3F4C41-84F6-C86E-2691-9495C6267819}"/>
              </a:ext>
            </a:extLst>
          </p:cNvPr>
          <p:cNvSpPr>
            <a:spLocks noChangeAspect="1"/>
          </p:cNvSpPr>
          <p:nvPr/>
        </p:nvSpPr>
        <p:spPr>
          <a:xfrm rot="21245635">
            <a:off x="11210819" y="5911825"/>
            <a:ext cx="892282" cy="89228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ángulo: biselado 25">
            <a:extLst>
              <a:ext uri="{FF2B5EF4-FFF2-40B4-BE49-F238E27FC236}">
                <a16:creationId xmlns:a16="http://schemas.microsoft.com/office/drawing/2014/main" id="{9043A69D-AD71-A0EC-9033-6CB58301AD0A}"/>
              </a:ext>
            </a:extLst>
          </p:cNvPr>
          <p:cNvSpPr>
            <a:spLocks noChangeAspect="1"/>
          </p:cNvSpPr>
          <p:nvPr/>
        </p:nvSpPr>
        <p:spPr>
          <a:xfrm rot="20341349">
            <a:off x="11469540" y="1285252"/>
            <a:ext cx="892282" cy="89228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: biselado 27">
            <a:extLst>
              <a:ext uri="{FF2B5EF4-FFF2-40B4-BE49-F238E27FC236}">
                <a16:creationId xmlns:a16="http://schemas.microsoft.com/office/drawing/2014/main" id="{F53BD961-B6F9-42A9-C24A-6B4238920028}"/>
              </a:ext>
            </a:extLst>
          </p:cNvPr>
          <p:cNvSpPr/>
          <p:nvPr/>
        </p:nvSpPr>
        <p:spPr>
          <a:xfrm rot="1247275">
            <a:off x="238008" y="1316311"/>
            <a:ext cx="1042416" cy="1042416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176381-33F0-C810-D01E-70E8EF1471B8}"/>
              </a:ext>
            </a:extLst>
          </p:cNvPr>
          <p:cNvSpPr/>
          <p:nvPr/>
        </p:nvSpPr>
        <p:spPr>
          <a:xfrm>
            <a:off x="0" y="0"/>
            <a:ext cx="12192000" cy="747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11F7835-4FCC-4C28-6BBA-932E38C26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225847"/>
              </p:ext>
            </p:extLst>
          </p:nvPr>
        </p:nvGraphicFramePr>
        <p:xfrm>
          <a:off x="0" y="177120"/>
          <a:ext cx="12192000" cy="365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4413437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4437403"/>
                    </a:ext>
                  </a:extLst>
                </a:gridCol>
                <a:gridCol w="9585960">
                  <a:extLst>
                    <a:ext uri="{9D8B030D-6E8A-4147-A177-3AD203B41FA5}">
                      <a16:colId xmlns:a16="http://schemas.microsoft.com/office/drawing/2014/main" val="4107451906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402968268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175415387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fld id="{32C773FC-3ED7-437B-8781-9C8693755237}" type="slidenum">
                        <a:rPr lang="es-MX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pPr algn="ctr"/>
                        <a:t>52</a:t>
                      </a:fld>
                      <a:endParaRPr lang="es-MX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0747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47802"/>
                  </a:ext>
                </a:extLst>
              </a:tr>
            </a:tbl>
          </a:graphicData>
        </a:graphic>
      </p:graphicFrame>
      <p:pic>
        <p:nvPicPr>
          <p:cNvPr id="10" name="Imagen 9" descr="Bilbao-Barcelona Analysis and PDEs meeting">
            <a:extLst>
              <a:ext uri="{FF2B5EF4-FFF2-40B4-BE49-F238E27FC236}">
                <a16:creationId xmlns:a16="http://schemas.microsoft.com/office/drawing/2014/main" id="{60C5D542-F26C-ED1D-3D37-61BC0061A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0" y="162000"/>
            <a:ext cx="792000" cy="396000"/>
          </a:xfrm>
          <a:prstGeom prst="rect">
            <a:avLst/>
          </a:prstGeom>
        </p:spPr>
      </p:pic>
      <p:pic>
        <p:nvPicPr>
          <p:cNvPr id="12" name="Imagen 11" descr="EHU - YouTube">
            <a:extLst>
              <a:ext uri="{FF2B5EF4-FFF2-40B4-BE49-F238E27FC236}">
                <a16:creationId xmlns:a16="http://schemas.microsoft.com/office/drawing/2014/main" id="{592AF4A7-67D1-43AD-8CC5-86D16EE1B3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17456" r="17261" b="17456"/>
          <a:stretch>
            <a:fillRect/>
          </a:stretch>
        </p:blipFill>
        <p:spPr>
          <a:xfrm>
            <a:off x="86955" y="0"/>
            <a:ext cx="724289" cy="720000"/>
          </a:xfrm>
          <a:prstGeom prst="rect">
            <a:avLst/>
          </a:prstGeom>
        </p:spPr>
      </p:pic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CC36309B-74B2-6597-5AD0-3AADBF858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Sebastián González Juárez</a:t>
            </a:r>
          </a:p>
          <a:p>
            <a:pPr marL="0" indent="0">
              <a:buNone/>
            </a:pPr>
            <a:r>
              <a:rPr lang="es-MX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Facultad de Ciencias – UNAM</a:t>
            </a:r>
          </a:p>
          <a:p>
            <a:pPr marL="0" indent="0">
              <a:buNone/>
            </a:pPr>
            <a:endParaRPr lang="es-MX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s-MX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s-MX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r">
              <a:buNone/>
            </a:pPr>
            <a:r>
              <a:rPr lang="es-MX" sz="21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Asesores: </a:t>
            </a:r>
          </a:p>
          <a:p>
            <a:pPr algn="r"/>
            <a:r>
              <a:rPr lang="es-MX" sz="21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Camila Roxana Cristiano Romero</a:t>
            </a:r>
          </a:p>
          <a:p>
            <a:pPr algn="r"/>
            <a:r>
              <a:rPr lang="es-MX" sz="21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Dr. Mikel Sanz Ruiz</a:t>
            </a:r>
          </a:p>
          <a:p>
            <a:pPr marL="0" indent="0">
              <a:buNone/>
            </a:pPr>
            <a:endParaRPr lang="es-MX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s-MX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Correo: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sebastian_gonzalezj@ciencias.unam.mx</a:t>
            </a:r>
          </a:p>
          <a:p>
            <a:pPr marL="0" indent="0">
              <a:buNone/>
            </a:pPr>
            <a:r>
              <a:rPr lang="es-MX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GitHub: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https://github.com/Bayan0708</a:t>
            </a:r>
          </a:p>
          <a:p>
            <a:endParaRPr lang="es-MX" dirty="0"/>
          </a:p>
        </p:txBody>
      </p:sp>
      <p:sp>
        <p:nvSpPr>
          <p:cNvPr id="44" name="Rectángulo: biselado 43">
            <a:extLst>
              <a:ext uri="{FF2B5EF4-FFF2-40B4-BE49-F238E27FC236}">
                <a16:creationId xmlns:a16="http://schemas.microsoft.com/office/drawing/2014/main" id="{5FE05A1D-2EF5-16E2-30D9-52E41204FA4A}"/>
              </a:ext>
            </a:extLst>
          </p:cNvPr>
          <p:cNvSpPr>
            <a:spLocks noChangeAspect="1"/>
          </p:cNvSpPr>
          <p:nvPr/>
        </p:nvSpPr>
        <p:spPr>
          <a:xfrm rot="486394">
            <a:off x="-5252206" y="4138650"/>
            <a:ext cx="727395" cy="727395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: biselado 45">
            <a:extLst>
              <a:ext uri="{FF2B5EF4-FFF2-40B4-BE49-F238E27FC236}">
                <a16:creationId xmlns:a16="http://schemas.microsoft.com/office/drawing/2014/main" id="{77627222-C919-44D7-D7B8-A17B0EAC53E4}"/>
              </a:ext>
            </a:extLst>
          </p:cNvPr>
          <p:cNvSpPr>
            <a:spLocks noChangeAspect="1"/>
          </p:cNvSpPr>
          <p:nvPr/>
        </p:nvSpPr>
        <p:spPr>
          <a:xfrm rot="1804759">
            <a:off x="-404064" y="3207635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Rectángulo: biselado 47">
            <a:extLst>
              <a:ext uri="{FF2B5EF4-FFF2-40B4-BE49-F238E27FC236}">
                <a16:creationId xmlns:a16="http://schemas.microsoft.com/office/drawing/2014/main" id="{858C5DF9-047B-1E8B-DEB5-B33D7A92A0B8}"/>
              </a:ext>
            </a:extLst>
          </p:cNvPr>
          <p:cNvSpPr>
            <a:spLocks noChangeAspect="1"/>
          </p:cNvSpPr>
          <p:nvPr/>
        </p:nvSpPr>
        <p:spPr>
          <a:xfrm rot="2637644">
            <a:off x="-1977460" y="-1099494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Rectángulo: biselado 49">
            <a:extLst>
              <a:ext uri="{FF2B5EF4-FFF2-40B4-BE49-F238E27FC236}">
                <a16:creationId xmlns:a16="http://schemas.microsoft.com/office/drawing/2014/main" id="{A76C9DE2-C9FC-12AD-5943-78F5EB403E9A}"/>
              </a:ext>
            </a:extLst>
          </p:cNvPr>
          <p:cNvSpPr>
            <a:spLocks noChangeAspect="1"/>
          </p:cNvSpPr>
          <p:nvPr/>
        </p:nvSpPr>
        <p:spPr>
          <a:xfrm rot="4434068">
            <a:off x="2819084" y="-1043209"/>
            <a:ext cx="582368" cy="582368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Rectángulo: biselado 51">
            <a:extLst>
              <a:ext uri="{FF2B5EF4-FFF2-40B4-BE49-F238E27FC236}">
                <a16:creationId xmlns:a16="http://schemas.microsoft.com/office/drawing/2014/main" id="{BF8E5A79-E801-C26A-C8A8-452F7DF482AD}"/>
              </a:ext>
            </a:extLst>
          </p:cNvPr>
          <p:cNvSpPr>
            <a:spLocks noChangeAspect="1"/>
          </p:cNvSpPr>
          <p:nvPr/>
        </p:nvSpPr>
        <p:spPr>
          <a:xfrm rot="2528299">
            <a:off x="4179699" y="3817432"/>
            <a:ext cx="892282" cy="89228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" name="Rectángulo: biselado 55">
            <a:extLst>
              <a:ext uri="{FF2B5EF4-FFF2-40B4-BE49-F238E27FC236}">
                <a16:creationId xmlns:a16="http://schemas.microsoft.com/office/drawing/2014/main" id="{B0042825-E03F-D554-97BA-EA653BB4584E}"/>
              </a:ext>
            </a:extLst>
          </p:cNvPr>
          <p:cNvSpPr/>
          <p:nvPr/>
        </p:nvSpPr>
        <p:spPr>
          <a:xfrm rot="4129939">
            <a:off x="-6793112" y="-778082"/>
            <a:ext cx="1042416" cy="1042416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8" name="Rectángulo: biselado 57">
            <a:extLst>
              <a:ext uri="{FF2B5EF4-FFF2-40B4-BE49-F238E27FC236}">
                <a16:creationId xmlns:a16="http://schemas.microsoft.com/office/drawing/2014/main" id="{2161057C-B89F-2FD3-66BC-882601E07825}"/>
              </a:ext>
            </a:extLst>
          </p:cNvPr>
          <p:cNvSpPr>
            <a:spLocks noChangeAspect="1"/>
          </p:cNvSpPr>
          <p:nvPr/>
        </p:nvSpPr>
        <p:spPr>
          <a:xfrm rot="486394">
            <a:off x="3324217" y="7775395"/>
            <a:ext cx="727395" cy="727395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Rectángulo: biselado 59">
            <a:extLst>
              <a:ext uri="{FF2B5EF4-FFF2-40B4-BE49-F238E27FC236}">
                <a16:creationId xmlns:a16="http://schemas.microsoft.com/office/drawing/2014/main" id="{FAB40AE8-DF14-AA16-1496-CA3F87F1CEFD}"/>
              </a:ext>
            </a:extLst>
          </p:cNvPr>
          <p:cNvSpPr>
            <a:spLocks noChangeAspect="1"/>
          </p:cNvSpPr>
          <p:nvPr/>
        </p:nvSpPr>
        <p:spPr>
          <a:xfrm rot="1804759">
            <a:off x="8172359" y="6844380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: biselado 61">
            <a:extLst>
              <a:ext uri="{FF2B5EF4-FFF2-40B4-BE49-F238E27FC236}">
                <a16:creationId xmlns:a16="http://schemas.microsoft.com/office/drawing/2014/main" id="{DC62E5A1-1B3B-F472-C221-60A7B5984DFA}"/>
              </a:ext>
            </a:extLst>
          </p:cNvPr>
          <p:cNvSpPr>
            <a:spLocks noChangeAspect="1"/>
          </p:cNvSpPr>
          <p:nvPr/>
        </p:nvSpPr>
        <p:spPr>
          <a:xfrm rot="2637644">
            <a:off x="6598963" y="2537251"/>
            <a:ext cx="1242502" cy="124250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: biselado 63">
            <a:extLst>
              <a:ext uri="{FF2B5EF4-FFF2-40B4-BE49-F238E27FC236}">
                <a16:creationId xmlns:a16="http://schemas.microsoft.com/office/drawing/2014/main" id="{B71A8AC8-7D36-96B3-C569-C82B882B5D88}"/>
              </a:ext>
            </a:extLst>
          </p:cNvPr>
          <p:cNvSpPr>
            <a:spLocks noChangeAspect="1"/>
          </p:cNvSpPr>
          <p:nvPr/>
        </p:nvSpPr>
        <p:spPr>
          <a:xfrm rot="4434068">
            <a:off x="11395507" y="2593536"/>
            <a:ext cx="582368" cy="582368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Rectángulo: biselado 65">
            <a:extLst>
              <a:ext uri="{FF2B5EF4-FFF2-40B4-BE49-F238E27FC236}">
                <a16:creationId xmlns:a16="http://schemas.microsoft.com/office/drawing/2014/main" id="{75C8DC90-DDB8-268D-25D7-FFF7762853B7}"/>
              </a:ext>
            </a:extLst>
          </p:cNvPr>
          <p:cNvSpPr>
            <a:spLocks noChangeAspect="1"/>
          </p:cNvSpPr>
          <p:nvPr/>
        </p:nvSpPr>
        <p:spPr>
          <a:xfrm rot="2528299">
            <a:off x="12756122" y="7454177"/>
            <a:ext cx="892282" cy="89228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8" name="Rectángulo: biselado 67">
            <a:extLst>
              <a:ext uri="{FF2B5EF4-FFF2-40B4-BE49-F238E27FC236}">
                <a16:creationId xmlns:a16="http://schemas.microsoft.com/office/drawing/2014/main" id="{2B0CA484-425E-FA6C-3A61-AED45441912B}"/>
              </a:ext>
            </a:extLst>
          </p:cNvPr>
          <p:cNvSpPr>
            <a:spLocks noChangeAspect="1"/>
          </p:cNvSpPr>
          <p:nvPr/>
        </p:nvSpPr>
        <p:spPr>
          <a:xfrm rot="1624013">
            <a:off x="13014843" y="2827604"/>
            <a:ext cx="892282" cy="892282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" name="Rectángulo: biselado 69">
            <a:extLst>
              <a:ext uri="{FF2B5EF4-FFF2-40B4-BE49-F238E27FC236}">
                <a16:creationId xmlns:a16="http://schemas.microsoft.com/office/drawing/2014/main" id="{DA3BE096-F827-F2E4-A0C6-70F36E9AEEC9}"/>
              </a:ext>
            </a:extLst>
          </p:cNvPr>
          <p:cNvSpPr/>
          <p:nvPr/>
        </p:nvSpPr>
        <p:spPr>
          <a:xfrm rot="4129939">
            <a:off x="1783311" y="2858663"/>
            <a:ext cx="1042416" cy="1042416"/>
          </a:xfrm>
          <a:prstGeom prst="bevel">
            <a:avLst>
              <a:gd name="adj" fmla="val 17655"/>
            </a:avLst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26355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3072</Words>
  <Application>Microsoft Office PowerPoint</Application>
  <PresentationFormat>Panorámica</PresentationFormat>
  <Paragraphs>794</Paragraphs>
  <Slides>52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63" baseType="lpstr">
      <vt:lpstr>Amasis MT Pro Medium</vt:lpstr>
      <vt:lpstr>Aptos</vt:lpstr>
      <vt:lpstr>Aptos Display</vt:lpstr>
      <vt:lpstr>Arial</vt:lpstr>
      <vt:lpstr>Calibri</vt:lpstr>
      <vt:lpstr>Cambria Math</vt:lpstr>
      <vt:lpstr>Courier New</vt:lpstr>
      <vt:lpstr>Mona Sans VF</vt:lpstr>
      <vt:lpstr>Tahoma</vt:lpstr>
      <vt:lpstr>Times New Roman</vt:lpstr>
      <vt:lpstr>Tema de Office</vt:lpstr>
      <vt:lpstr>Cuánticos para Clasificación de Imágenes    Estancia Sebastián BCAM // Junio - Julio</vt:lpstr>
      <vt:lpstr>Presentación de PowerPoint</vt:lpstr>
      <vt:lpstr>Análisis del espacio Latente del Bottleneck de la UNET y de CNNs</vt:lpstr>
      <vt:lpstr>Técnicas de reducción de dimensionalidad sobre z_64</vt:lpstr>
      <vt:lpstr>Presentación de PowerPoint</vt:lpstr>
      <vt:lpstr>Error de reconstrucción de z64 para las 4 transformaciones</vt:lpstr>
      <vt:lpstr>AUC de z64 para las 4 transformaciones (SVM RBF / RF / LR).</vt:lpstr>
      <vt:lpstr>ACC de z64 para las 4 transformaciones (SVM RBF / RF / LR).</vt:lpstr>
      <vt:lpstr>Mejor resultado de z64 por modelo:(SVM RBF / RF / LR).</vt:lpstr>
      <vt:lpstr>Aprendizaje de Representaciones Latentes en imágenes</vt:lpstr>
      <vt:lpstr>Presentación de PowerPoint</vt:lpstr>
      <vt:lpstr>Presentación de PowerPoint</vt:lpstr>
      <vt:lpstr>Presentación de PowerPoint</vt:lpstr>
      <vt:lpstr>Presentación de PowerPoint</vt:lpstr>
      <vt:lpstr>Clasificación mediante NQK con reducción de dimensionalidad</vt:lpstr>
      <vt:lpstr>NQK con transformaciones de reducción a 3F</vt:lpstr>
      <vt:lpstr>NQK con transformaciones de reducción a 3F</vt:lpstr>
      <vt:lpstr>NQK con transformaciones de reducción a 3F</vt:lpstr>
      <vt:lpstr>Presentación de PowerPoint</vt:lpstr>
      <vt:lpstr>Clasificación mediante DR QNN SU(4) de Camila con reducción de dimensionalidad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Bayan Gonzalez Juarez</dc:creator>
  <cp:lastModifiedBy>Bayan Gonzalez Juarez</cp:lastModifiedBy>
  <cp:revision>37</cp:revision>
  <dcterms:created xsi:type="dcterms:W3CDTF">2026-02-08T04:02:59Z</dcterms:created>
  <dcterms:modified xsi:type="dcterms:W3CDTF">2026-07-14T12:15:40Z</dcterms:modified>
</cp:coreProperties>
</file>